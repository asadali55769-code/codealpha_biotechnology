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5" d="100"/>
          <a:sy n="95" d="100"/>
        </p:scale>
        <p:origin x="16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6/27/2026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6/27/2026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6/27/2026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6/27/2026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6/27/2026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6/27/2026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6/27/2026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6/27/2026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6/27/2026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6/27/2026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6/27/2026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6/27/2026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hyperlink" Target="https://www.fiercebiotech.com/biotech/amenable-fda-briefing-docs-bode-well-modernas-mrna-flu-shot-ahead-adcomm-grilling"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bing.com/ck/a?!&amp;&amp;p=a2335c1cf1eb25fafde0d503b391e2a71685cfec6ebe697ff2c2970469c2a8b2JmltdHM9MTc4MjQzMjAwMA&amp;ptn=3&amp;ver=2&amp;hsh=4&amp;fclid=326979ae-0b12-63ed-0a37-6c530ab76293&amp;psq=now+made+it+on+inovations+and+products+of+moderna&amp;u=a1aHR0cHM6Ly9zY2llbmNlaW5zaWdodHMub3JnL3RoZS1sYXRlc3QtbW9kZXJuYS1uZXdzLXZhY2NpbmVzLXBpcGVsaW5lLWFuZC10cmlhbHMv&amp;ntb=1" TargetMode="External"/><Relationship Id="rId2" Type="http://schemas.openxmlformats.org/officeDocument/2006/relationships/hyperlink" Target="https://www.bing.com/ck/a?!&amp;&amp;p=a2335c1cf1eb25fafde0d503b391e2a71685cfec6ebe697ff2c2970469c2a8b2JmltdHM9MTc4MjQzMjAwMA&amp;ptn=3&amp;ver=2&amp;hsh=4&amp;fclid=326979ae-0b12-63ed-0a37-6c530ab76293&amp;psq=now+made+it+on+inovations+and+products+of+moderna&amp;u=a1aHR0cHM6Ly9zY2llbmNlaW5zaWdodHMub3JnL3RoZS1sYXRlc3QtbW9kZXJuYS1uZXdzLXZhY2NpbmVzLXBpcGVsaW5lLWFuZC10cmlhbHMv" TargetMode="External"/><Relationship Id="rId1" Type="http://schemas.openxmlformats.org/officeDocument/2006/relationships/slideLayout" Target="../slideLayouts/slideLayout4.xml"/><Relationship Id="rId6" Type="http://schemas.openxmlformats.org/officeDocument/2006/relationships/hyperlink" Target="https://creativecommons.org/licenses/by-nc-nd/3.0/" TargetMode="External"/><Relationship Id="rId5" Type="http://schemas.openxmlformats.org/officeDocument/2006/relationships/hyperlink" Target="https://www.nurse24.it/dossier/covid19/caratteristiche-vaccino-moderna.html" TargetMode="Externa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2" Type="http://schemas.openxmlformats.org/officeDocument/2006/relationships/hyperlink" Target="https://www.bing.com/ck/a?!&amp;&amp;p=a2335c1cf1eb25fafde0d503b391e2a71685cfec6ebe697ff2c2970469c2a8b2JmltdHM9MTc4MjQzMjAwMA&amp;ptn=3&amp;ver=2&amp;hsh=4&amp;fclid=326979ae-0b12-63ed-0a37-6c530ab76293&amp;psq=now+made+it+on+inovations+and+products+of+moderna&amp;u=a1aHR0cHM6Ly9zY2llbmNlaW5zaWdodHMub3JnL3RoZS1sYXRlc3QtbW9kZXJuYS1uZXdzLXZhY2NpbmVzLXBpcGVsaW5lLWFuZC10cmlhbHMv&amp;ntb=1"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hyperlink" Target="https://creativecommons.org/licenses/by/3.0/" TargetMode="External"/><Relationship Id="rId2" Type="http://schemas.openxmlformats.org/officeDocument/2006/relationships/hyperlink" Target="https://scienceofparkinsons.com/2020/12/15/prevail-lilly/" TargetMode="External"/><Relationship Id="rId1" Type="http://schemas.openxmlformats.org/officeDocument/2006/relationships/slideLayout" Target="../slideLayouts/slideLayout8.xml"/><Relationship Id="rId6" Type="http://schemas.openxmlformats.org/officeDocument/2006/relationships/image" Target="../media/image5.jpg"/><Relationship Id="rId5" Type="http://schemas.openxmlformats.org/officeDocument/2006/relationships/hyperlink" Target="https://blockonomi.com/moderna-mrna-stock-biotech-leader-surges-30-on-updated-guidance/" TargetMode="External"/><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s://iblnews.es/australia-plans-free-vaccines-if-trial-succeeds/" TargetMode="External"/><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s://freepngimg.com/png/19306-thank-you-free-download-png" TargetMode="External"/><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DA098E87-E2B3-E8FB-A7C7-5F02D9134877}"/>
              </a:ext>
            </a:extLst>
          </p:cNvPr>
          <p:cNvSpPr>
            <a:spLocks noGrp="1"/>
          </p:cNvSpPr>
          <p:nvPr>
            <p:ph type="pic" idx="1"/>
          </p:nvPr>
        </p:nvSpPr>
        <p:spPr/>
      </p:sp>
      <p:sp>
        <p:nvSpPr>
          <p:cNvPr id="2" name="Title 1">
            <a:extLst>
              <a:ext uri="{FF2B5EF4-FFF2-40B4-BE49-F238E27FC236}">
                <a16:creationId xmlns:a16="http://schemas.microsoft.com/office/drawing/2014/main" id="{78FD68DA-43BA-4508-8DE2-BA9BB7B2FA5B}"/>
              </a:ext>
            </a:extLst>
          </p:cNvPr>
          <p:cNvSpPr>
            <a:spLocks noGrp="1"/>
          </p:cNvSpPr>
          <p:nvPr>
            <p:ph type="title"/>
          </p:nvPr>
        </p:nvSpPr>
        <p:spPr>
          <a:xfrm>
            <a:off x="1883342" y="5952759"/>
            <a:ext cx="10113645" cy="743682"/>
          </a:xfrm>
        </p:spPr>
        <p:txBody>
          <a:bodyPr>
            <a:noAutofit/>
          </a:bodyPr>
          <a:lstStyle/>
          <a:p>
            <a:r>
              <a:rPr lang="en-US" sz="6600" b="1" i="1" dirty="0"/>
              <a:t>Moderna biotech startup company</a:t>
            </a:r>
          </a:p>
        </p:txBody>
      </p:sp>
      <p:sp>
        <p:nvSpPr>
          <p:cNvPr id="3" name="Subtitle 2">
            <a:extLst>
              <a:ext uri="{FF2B5EF4-FFF2-40B4-BE49-F238E27FC236}">
                <a16:creationId xmlns:a16="http://schemas.microsoft.com/office/drawing/2014/main" id="{A8E9CFF2-3777-4FF4-A759-8491175B0B7C}"/>
              </a:ext>
            </a:extLst>
          </p:cNvPr>
          <p:cNvSpPr>
            <a:spLocks noGrp="1"/>
          </p:cNvSpPr>
          <p:nvPr>
            <p:ph type="body" sz="half" idx="2"/>
          </p:nvPr>
        </p:nvSpPr>
        <p:spPr/>
        <p:txBody>
          <a:bodyPr>
            <a:normAutofit/>
          </a:bodyPr>
          <a:lstStyle/>
          <a:p>
            <a:r>
              <a:rPr lang="en-US" sz="2400" dirty="0">
                <a:solidFill>
                  <a:schemeClr val="tx1">
                    <a:lumMod val="85000"/>
                    <a:lumOff val="15000"/>
                  </a:schemeClr>
                </a:solidFill>
              </a:rPr>
              <a:t>Sit Dolor Amet</a:t>
            </a:r>
          </a:p>
        </p:txBody>
      </p:sp>
      <p:pic>
        <p:nvPicPr>
          <p:cNvPr id="10" name="Picture 9">
            <a:extLst>
              <a:ext uri="{FF2B5EF4-FFF2-40B4-BE49-F238E27FC236}">
                <a16:creationId xmlns:a16="http://schemas.microsoft.com/office/drawing/2014/main" id="{5FA069AF-E2F6-2DE2-7A1F-264129C5CE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4808"/>
            <a:ext cx="12191999" cy="4613158"/>
          </a:xfrm>
          <a:prstGeom prst="rect">
            <a:avLst/>
          </a:prstGeom>
        </p:spPr>
      </p:pic>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1097280" y="758952"/>
            <a:ext cx="10058400" cy="3892168"/>
          </a:xfrm>
        </p:spPr>
        <p:txBody>
          <a:bodyPr anchor="ctr">
            <a:normAutofit/>
          </a:bodyPr>
          <a:lstStyle/>
          <a:p>
            <a:r>
              <a:rPr lang="en-US" sz="1600" b="1" u="sng" dirty="0"/>
              <a:t>Introduction to Moderna Startup Country</a:t>
            </a:r>
            <a:br>
              <a:rPr lang="en-US" sz="1600" b="1" dirty="0"/>
            </a:br>
            <a:br>
              <a:rPr lang="en-US" sz="1600" dirty="0"/>
            </a:br>
            <a:r>
              <a:rPr lang="en-US" sz="1600" dirty="0"/>
              <a:t>In an era defined by innovation and entrepreneurial spirit, Moderna Startup Country emerges as a dynamic hub fostering creativity, technology, and scalable solutions. With a vision to empower startups and catalyze economic growth, it provides resources, mentorship, and a collaborative ecosystem, transforming ideas into impactful ventures. This initiative positions itself at the forefront of modern entrepreneurship, championing innovation as a driving force for societal and technological advancement.</a:t>
            </a:r>
            <a:br>
              <a:rPr lang="en-US" sz="1600" dirty="0"/>
            </a:br>
            <a:r>
              <a:rPr lang="en-US" sz="1600" b="1" dirty="0"/>
              <a:t>Moderna</a:t>
            </a:r>
            <a:r>
              <a:rPr lang="en-US" sz="1600" dirty="0"/>
              <a:t> is a biotechnology company based </a:t>
            </a:r>
            <a:r>
              <a:rPr lang="en-US" sz="1600" b="1" i="1" u="sng" dirty="0"/>
              <a:t>in Cambridge, Massachusetts, founded in 2010.</a:t>
            </a:r>
            <a:br>
              <a:rPr lang="en-US" sz="1600" b="1" i="1" u="sng" dirty="0"/>
            </a:br>
            <a:r>
              <a:rPr lang="en-US" sz="1600" dirty="0"/>
              <a:t>It specializes in </a:t>
            </a:r>
            <a:r>
              <a:rPr lang="en-US" sz="1600" b="1" dirty="0"/>
              <a:t>mRNA technology</a:t>
            </a:r>
            <a:r>
              <a:rPr lang="en-US" sz="1600" dirty="0"/>
              <a:t>, which uses messenger RNA to instruct cells to produce proteins that help prevent or treat diseases.</a:t>
            </a:r>
            <a:br>
              <a:rPr lang="en-US" sz="1600" dirty="0"/>
            </a:br>
            <a:r>
              <a:rPr lang="en-US" sz="1600" dirty="0"/>
              <a:t>The company’s mission is to </a:t>
            </a:r>
            <a:r>
              <a:rPr lang="en-US" sz="1600" b="1" dirty="0"/>
              <a:t>revolutionize medicine</a:t>
            </a:r>
            <a:r>
              <a:rPr lang="en-US" sz="1600" dirty="0"/>
              <a:t> by harnessing mRNA for vaccines and therapeutics across infectious diseases, oncology, rare diseases, and autoimmune conditions</a:t>
            </a:r>
            <a:br>
              <a:rPr lang="en-US" sz="1600" dirty="0"/>
            </a:br>
            <a:br>
              <a:rPr lang="en-US" sz="1600" dirty="0"/>
            </a:br>
            <a:endParaRPr lang="en-US" sz="1600" i="1" dirty="0">
              <a:solidFill>
                <a:srgbClr val="FFFFFF"/>
              </a:solidFill>
            </a:endParaRP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1100051" y="5225240"/>
            <a:ext cx="10058400" cy="1143000"/>
          </a:xfrm>
        </p:spPr>
        <p:txBody>
          <a:bodyPr>
            <a:noAutofit/>
          </a:bodyPr>
          <a:lstStyle/>
          <a:p>
            <a:endParaRPr lang="en-US" sz="900" dirty="0">
              <a:solidFill>
                <a:srgbClr val="FFFFFF"/>
              </a:solidFill>
              <a:highlight>
                <a:srgbClr val="C0C0C0"/>
              </a:highlight>
            </a:endParaRPr>
          </a:p>
        </p:txBody>
      </p:sp>
      <p:pic>
        <p:nvPicPr>
          <p:cNvPr id="9" name="Picture 8">
            <a:extLst>
              <a:ext uri="{FF2B5EF4-FFF2-40B4-BE49-F238E27FC236}">
                <a16:creationId xmlns:a16="http://schemas.microsoft.com/office/drawing/2014/main" id="{D74AF916-0701-057D-EA40-953B19C14AF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80398" y="5153029"/>
            <a:ext cx="11892163" cy="1504942"/>
          </a:xfrm>
          <a:prstGeom prst="rect">
            <a:avLst/>
          </a:prstGeom>
        </p:spPr>
      </p:pic>
    </p:spTree>
    <p:extLst>
      <p:ext uri="{BB962C8B-B14F-4D97-AF65-F5344CB8AC3E}">
        <p14:creationId xmlns:p14="http://schemas.microsoft.com/office/powerpoint/2010/main" val="191714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4680466-FFF6-8AC8-471F-56CC661625F0}"/>
              </a:ext>
            </a:extLst>
          </p:cNvPr>
          <p:cNvSpPr>
            <a:spLocks noGrp="1"/>
          </p:cNvSpPr>
          <p:nvPr>
            <p:ph type="title"/>
          </p:nvPr>
        </p:nvSpPr>
        <p:spPr/>
        <p:txBody>
          <a:bodyPr/>
          <a:lstStyle/>
          <a:p>
            <a:r>
              <a:rPr lang="en-US" dirty="0"/>
              <a:t>Products by  moderna </a:t>
            </a:r>
          </a:p>
        </p:txBody>
      </p:sp>
      <p:sp>
        <p:nvSpPr>
          <p:cNvPr id="10" name="Content Placeholder 9">
            <a:extLst>
              <a:ext uri="{FF2B5EF4-FFF2-40B4-BE49-F238E27FC236}">
                <a16:creationId xmlns:a16="http://schemas.microsoft.com/office/drawing/2014/main" id="{7E8C165B-14E2-BCFD-37C8-E894E61029DA}"/>
              </a:ext>
            </a:extLst>
          </p:cNvPr>
          <p:cNvSpPr>
            <a:spLocks noGrp="1"/>
          </p:cNvSpPr>
          <p:nvPr>
            <p:ph sz="half" idx="1"/>
          </p:nvPr>
        </p:nvSpPr>
        <p:spPr/>
        <p:txBody>
          <a:bodyPr>
            <a:normAutofit/>
          </a:bodyPr>
          <a:lstStyle/>
          <a:p>
            <a:r>
              <a:rPr lang="en-US" dirty="0"/>
              <a:t>Approved products:</a:t>
            </a:r>
          </a:p>
          <a:p>
            <a:r>
              <a:rPr lang="en-US" sz="1700" dirty="0"/>
              <a:t>Its commercial products include:</a:t>
            </a:r>
          </a:p>
          <a:p>
            <a:pPr>
              <a:buFont typeface="Wingdings" panose="05000000000000000000" pitchFamily="2" charset="2"/>
              <a:buChar char="Ø"/>
            </a:pPr>
            <a:r>
              <a:rPr lang="en-US" sz="1700" dirty="0"/>
              <a:t> COVID-19 vaccine (Spikevax) continues to be updated for emerging variants such as </a:t>
            </a:r>
            <a:r>
              <a:rPr lang="en-US" sz="1700" dirty="0">
                <a:hlinkClick r:id="rId2"/>
              </a:rPr>
              <a:t> LP.8.1 and is included in seasonal vaccination        programs</a:t>
            </a:r>
            <a:endParaRPr lang="en-US" sz="1700" dirty="0"/>
          </a:p>
          <a:p>
            <a:pPr>
              <a:buFont typeface="Wingdings" panose="05000000000000000000" pitchFamily="2" charset="2"/>
              <a:buChar char="Ø"/>
            </a:pPr>
            <a:r>
              <a:rPr lang="en-US" sz="1700" dirty="0"/>
              <a:t> Respiratory synthetic virus (RSV)    vaccine</a:t>
            </a:r>
            <a:r>
              <a:rPr lang="en-US" sz="1700" b="1" dirty="0">
                <a:hlinkClick r:id="rId2"/>
              </a:rPr>
              <a:t> (</a:t>
            </a:r>
            <a:r>
              <a:rPr lang="en-US" sz="1700" b="1" dirty="0" err="1">
                <a:hlinkClick r:id="rId2"/>
              </a:rPr>
              <a:t>mResvia</a:t>
            </a:r>
            <a:r>
              <a:rPr lang="en-US" sz="1700" b="1" dirty="0">
                <a:hlinkClick r:id="rId2"/>
              </a:rPr>
              <a:t> / mRNA-1345)</a:t>
            </a:r>
            <a:r>
              <a:rPr lang="en-US" sz="1700" dirty="0">
                <a:hlinkClick r:id="rId2"/>
              </a:rPr>
              <a:t> – Approved in 2024 for adults 60 and older </a:t>
            </a:r>
            <a:endParaRPr lang="en-US" sz="1700" u="sng" dirty="0">
              <a:hlinkClick r:id="rId3"/>
            </a:endParaRPr>
          </a:p>
          <a:p>
            <a:pPr marL="0" indent="0">
              <a:buNone/>
            </a:pPr>
            <a:endParaRPr lang="en-US" sz="1700" dirty="0"/>
          </a:p>
        </p:txBody>
      </p:sp>
      <p:pic>
        <p:nvPicPr>
          <p:cNvPr id="15" name="Content Placeholder 14">
            <a:extLst>
              <a:ext uri="{FF2B5EF4-FFF2-40B4-BE49-F238E27FC236}">
                <a16:creationId xmlns:a16="http://schemas.microsoft.com/office/drawing/2014/main" id="{A53BD3E7-3AFA-5803-162F-BCDBA7638513}"/>
              </a:ext>
            </a:extLst>
          </p:cNvPr>
          <p:cNvPicPr>
            <a:picLocks noGrp="1" noChangeAspect="1"/>
          </p:cNvPicPr>
          <p:nvPr>
            <p:ph sz="half" idx="2"/>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a:stretch/>
        </p:blipFill>
        <p:spPr>
          <a:xfrm>
            <a:off x="6516688" y="2120900"/>
            <a:ext cx="4638675" cy="3748193"/>
          </a:xfrm>
          <a:prstGeom prst="rect">
            <a:avLst/>
          </a:prstGeom>
        </p:spPr>
      </p:pic>
      <p:sp>
        <p:nvSpPr>
          <p:cNvPr id="16" name="TextBox 15">
            <a:extLst>
              <a:ext uri="{FF2B5EF4-FFF2-40B4-BE49-F238E27FC236}">
                <a16:creationId xmlns:a16="http://schemas.microsoft.com/office/drawing/2014/main" id="{99600C04-893E-8B74-9CF3-37E634E22DAB}"/>
              </a:ext>
            </a:extLst>
          </p:cNvPr>
          <p:cNvSpPr txBox="1"/>
          <p:nvPr/>
        </p:nvSpPr>
        <p:spPr>
          <a:xfrm>
            <a:off x="6516688" y="5869093"/>
            <a:ext cx="4638675" cy="230832"/>
          </a:xfrm>
          <a:prstGeom prst="rect">
            <a:avLst/>
          </a:prstGeom>
          <a:noFill/>
        </p:spPr>
        <p:txBody>
          <a:bodyPr wrap="square" rtlCol="0">
            <a:spAutoFit/>
          </a:bodyPr>
          <a:lstStyle/>
          <a:p>
            <a:r>
              <a:rPr lang="en-US" sz="900">
                <a:hlinkClick r:id="rId5" tooltip="https://www.nurse24.it/dossier/covid19/caratteristiche-vaccino-moderna.html"/>
              </a:rPr>
              <a:t>This Photo</a:t>
            </a:r>
            <a:r>
              <a:rPr lang="en-US" sz="900"/>
              <a:t> by Unknown Author is licensed under </a:t>
            </a:r>
            <a:r>
              <a:rPr lang="en-US" sz="900">
                <a:hlinkClick r:id="rId6" tooltip="https://creativecommons.org/licenses/by-nc-nd/3.0/"/>
              </a:rPr>
              <a:t>CC BY-NC-ND</a:t>
            </a:r>
            <a:endParaRPr lang="en-US" sz="900"/>
          </a:p>
        </p:txBody>
      </p:sp>
    </p:spTree>
    <p:extLst>
      <p:ext uri="{BB962C8B-B14F-4D97-AF65-F5344CB8AC3E}">
        <p14:creationId xmlns:p14="http://schemas.microsoft.com/office/powerpoint/2010/main" val="1037328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0DE90E-6DEE-729E-4B1E-D6456899784A}"/>
              </a:ext>
            </a:extLst>
          </p:cNvPr>
          <p:cNvSpPr txBox="1"/>
          <p:nvPr/>
        </p:nvSpPr>
        <p:spPr>
          <a:xfrm>
            <a:off x="529388" y="261973"/>
            <a:ext cx="11173328" cy="5114221"/>
          </a:xfrm>
          <a:prstGeom prst="rect">
            <a:avLst/>
          </a:prstGeom>
          <a:noFill/>
        </p:spPr>
        <p:txBody>
          <a:bodyPr wrap="square">
            <a:spAutoFit/>
          </a:bodyPr>
          <a:lstStyle/>
          <a:p>
            <a:pPr algn="l">
              <a:lnSpc>
                <a:spcPts val="1950"/>
              </a:lnSpc>
              <a:buNone/>
            </a:pPr>
            <a:r>
              <a:rPr lang="en-US" sz="2000" b="1" dirty="0">
                <a:solidFill>
                  <a:srgbClr val="0A0C0F"/>
                </a:solidFill>
                <a:effectLst/>
                <a:latin typeface="Roboto" panose="02000000000000000000" pitchFamily="2" charset="0"/>
              </a:rPr>
              <a:t>Clinical Pipeline and Ongoing Innovations</a:t>
            </a:r>
          </a:p>
          <a:p>
            <a:pPr algn="l">
              <a:lnSpc>
                <a:spcPts val="1950"/>
              </a:lnSpc>
              <a:buNone/>
            </a:pPr>
            <a:endParaRPr lang="en-US" sz="2000" b="1" dirty="0">
              <a:solidFill>
                <a:srgbClr val="0A0C0F"/>
              </a:solidFill>
              <a:effectLst/>
              <a:latin typeface="Roboto" panose="02000000000000000000" pitchFamily="2" charset="0"/>
            </a:endParaRPr>
          </a:p>
          <a:p>
            <a:pPr algn="l">
              <a:buNone/>
            </a:pPr>
            <a:r>
              <a:rPr lang="en-US" sz="1600" dirty="0">
                <a:solidFill>
                  <a:srgbClr val="0A0C0F"/>
                </a:solidFill>
                <a:latin typeface="Roboto" panose="02000000000000000000" pitchFamily="2" charset="0"/>
              </a:rPr>
              <a:t>Moderna has a robust </a:t>
            </a:r>
            <a:r>
              <a:rPr lang="en-US" sz="1600" b="1" dirty="0">
                <a:solidFill>
                  <a:srgbClr val="0A0C0F"/>
                </a:solidFill>
                <a:latin typeface="Roboto" panose="02000000000000000000" pitchFamily="2" charset="0"/>
              </a:rPr>
              <a:t>pipeline of over 44 candidates</a:t>
            </a:r>
            <a:r>
              <a:rPr lang="en-US" sz="1600" dirty="0">
                <a:solidFill>
                  <a:srgbClr val="0A0C0F"/>
                </a:solidFill>
                <a:latin typeface="Roboto" panose="02000000000000000000" pitchFamily="2" charset="0"/>
              </a:rPr>
              <a:t> with 37 in clinical trials, targeting multiple therapeutic areas. </a:t>
            </a:r>
            <a:endParaRPr lang="en-US" sz="1600" b="0" i="0" dirty="0">
              <a:solidFill>
                <a:srgbClr val="0A0C0F"/>
              </a:solidFill>
              <a:effectLst/>
              <a:latin typeface="Roboto" panose="02000000000000000000" pitchFamily="2" charset="0"/>
            </a:endParaRPr>
          </a:p>
          <a:p>
            <a:pPr algn="l">
              <a:lnSpc>
                <a:spcPts val="1500"/>
              </a:lnSpc>
              <a:buNone/>
            </a:pPr>
            <a:r>
              <a:rPr lang="en-US" sz="1600" u="sng" dirty="0">
                <a:solidFill>
                  <a:srgbClr val="7C4026"/>
                </a:solidFill>
                <a:latin typeface="Roboto" panose="02000000000000000000" pitchFamily="2" charset="0"/>
              </a:rPr>
              <a:t>Wikipedia</a:t>
            </a:r>
          </a:p>
          <a:p>
            <a:pPr algn="l">
              <a:buNone/>
            </a:pPr>
            <a:endParaRPr lang="en-US" b="0" i="0" dirty="0">
              <a:solidFill>
                <a:srgbClr val="0A0C0F"/>
              </a:solidFill>
              <a:effectLst/>
              <a:latin typeface="Roboto" panose="02000000000000000000" pitchFamily="2" charset="0"/>
            </a:endParaRPr>
          </a:p>
          <a:p>
            <a:pPr algn="l">
              <a:buFont typeface="Arial" panose="020B0604020202020204" pitchFamily="34" charset="0"/>
              <a:buChar char="•"/>
            </a:pPr>
            <a:r>
              <a:rPr lang="en-US" b="1" dirty="0">
                <a:solidFill>
                  <a:srgbClr val="0A0C0F"/>
                </a:solidFill>
                <a:latin typeface="Roboto" panose="02000000000000000000" pitchFamily="2" charset="0"/>
              </a:rPr>
              <a:t>Combination Respiratory Vaccines</a:t>
            </a:r>
            <a:r>
              <a:rPr lang="en-US" sz="1600" dirty="0">
                <a:solidFill>
                  <a:srgbClr val="0A0C0F"/>
                </a:solidFill>
                <a:latin typeface="Roboto" panose="02000000000000000000" pitchFamily="2" charset="0"/>
              </a:rPr>
              <a:t>: mRNA-1083 combines influenza and COVID-19 vaccines into a single shot, aiming for easier annual immunization.</a:t>
            </a:r>
            <a:endParaRPr lang="en-US" sz="1600" b="0" i="0" u="sng" dirty="0">
              <a:solidFill>
                <a:srgbClr val="7C4026"/>
              </a:solidFill>
              <a:effectLst/>
              <a:latin typeface="Roboto" panose="02000000000000000000" pitchFamily="2" charset="0"/>
              <a:hlinkClick r:id="rId2"/>
            </a:endParaRPr>
          </a:p>
          <a:p>
            <a:pPr algn="l"/>
            <a:endParaRPr lang="en-US" sz="1600" b="0" i="0" dirty="0">
              <a:solidFill>
                <a:srgbClr val="0A0C0F"/>
              </a:solidFill>
              <a:effectLst/>
              <a:latin typeface="Roboto" panose="02000000000000000000" pitchFamily="2" charset="0"/>
            </a:endParaRPr>
          </a:p>
          <a:p>
            <a:pPr algn="l">
              <a:buFont typeface="Arial" panose="020B0604020202020204" pitchFamily="34" charset="0"/>
              <a:buChar char="•"/>
            </a:pPr>
            <a:r>
              <a:rPr lang="en-US" b="1" dirty="0">
                <a:solidFill>
                  <a:srgbClr val="0A0C0F"/>
                </a:solidFill>
                <a:latin typeface="Roboto" panose="02000000000000000000" pitchFamily="2" charset="0"/>
              </a:rPr>
              <a:t>Oncology</a:t>
            </a:r>
            <a:r>
              <a:rPr lang="en-US" dirty="0">
                <a:solidFill>
                  <a:srgbClr val="0A0C0F"/>
                </a:solidFill>
                <a:latin typeface="Roboto" panose="02000000000000000000" pitchFamily="2" charset="0"/>
              </a:rPr>
              <a:t>:</a:t>
            </a:r>
            <a:r>
              <a:rPr lang="en-US" sz="1600" dirty="0">
                <a:solidFill>
                  <a:srgbClr val="0A0C0F"/>
                </a:solidFill>
                <a:latin typeface="Roboto" panose="02000000000000000000" pitchFamily="2" charset="0"/>
              </a:rPr>
              <a:t> Personalized cancer vaccines like </a:t>
            </a:r>
            <a:r>
              <a:rPr lang="en-US" sz="1600" b="1" dirty="0">
                <a:solidFill>
                  <a:srgbClr val="0A0C0F"/>
                </a:solidFill>
                <a:latin typeface="Roboto" panose="02000000000000000000" pitchFamily="2" charset="0"/>
              </a:rPr>
              <a:t>mRNA-4157</a:t>
            </a:r>
            <a:r>
              <a:rPr lang="en-US" sz="1600" dirty="0">
                <a:solidFill>
                  <a:srgbClr val="0A0C0F"/>
                </a:solidFill>
                <a:latin typeface="Roboto" panose="02000000000000000000" pitchFamily="2" charset="0"/>
              </a:rPr>
              <a:t> in partnership with Merck train the immune system to recognize tumor-specific mutations, with trials underway for melanoma and other cancers.</a:t>
            </a:r>
            <a:endParaRPr lang="en-US" sz="1600" b="0" i="0" u="sng" dirty="0">
              <a:solidFill>
                <a:srgbClr val="7C4026"/>
              </a:solidFill>
              <a:effectLst/>
              <a:latin typeface="Roboto" panose="02000000000000000000" pitchFamily="2" charset="0"/>
              <a:hlinkClick r:id="rId2"/>
            </a:endParaRPr>
          </a:p>
          <a:p>
            <a:pPr algn="l"/>
            <a:endParaRPr lang="en-US" b="0" i="0" dirty="0">
              <a:solidFill>
                <a:srgbClr val="0A0C0F"/>
              </a:solidFill>
              <a:effectLst/>
              <a:latin typeface="Roboto" panose="02000000000000000000" pitchFamily="2" charset="0"/>
            </a:endParaRPr>
          </a:p>
          <a:p>
            <a:pPr algn="l">
              <a:buFont typeface="Arial" panose="020B0604020202020204" pitchFamily="34" charset="0"/>
              <a:buChar char="•"/>
            </a:pPr>
            <a:r>
              <a:rPr lang="en-US" b="1" dirty="0">
                <a:solidFill>
                  <a:srgbClr val="0A0C0F"/>
                </a:solidFill>
                <a:latin typeface="Roboto" panose="02000000000000000000" pitchFamily="2" charset="0"/>
              </a:rPr>
              <a:t>Latent Virus Vaccines</a:t>
            </a:r>
            <a:r>
              <a:rPr lang="en-US" dirty="0">
                <a:solidFill>
                  <a:srgbClr val="0A0C0F"/>
                </a:solidFill>
                <a:latin typeface="Roboto" panose="02000000000000000000" pitchFamily="2" charset="0"/>
              </a:rPr>
              <a:t>: </a:t>
            </a:r>
            <a:r>
              <a:rPr lang="en-US" sz="1600" dirty="0">
                <a:solidFill>
                  <a:srgbClr val="0A0C0F"/>
                </a:solidFill>
                <a:latin typeface="Roboto" panose="02000000000000000000" pitchFamily="2" charset="0"/>
              </a:rPr>
              <a:t>Candidates for Epstein–Barr Virus (EBV), Cytomegalovirus (CMV), and Norovirus are in development, with some reaching late-stage trials.</a:t>
            </a:r>
            <a:endParaRPr lang="en-US" sz="1600" b="0" i="0" u="sng" dirty="0">
              <a:solidFill>
                <a:srgbClr val="7C4026"/>
              </a:solidFill>
              <a:effectLst/>
              <a:latin typeface="Roboto" panose="02000000000000000000" pitchFamily="2" charset="0"/>
              <a:hlinkClick r:id="rId2"/>
            </a:endParaRPr>
          </a:p>
          <a:p>
            <a:pPr algn="l"/>
            <a:endParaRPr lang="en-US" sz="1600" b="0" i="0" dirty="0">
              <a:solidFill>
                <a:srgbClr val="0A0C0F"/>
              </a:solidFill>
              <a:effectLst/>
              <a:latin typeface="Roboto" panose="02000000000000000000" pitchFamily="2" charset="0"/>
            </a:endParaRPr>
          </a:p>
          <a:p>
            <a:pPr algn="l">
              <a:buFont typeface="Arial" panose="020B0604020202020204" pitchFamily="34" charset="0"/>
              <a:buChar char="•"/>
            </a:pPr>
            <a:r>
              <a:rPr lang="en-US" b="1" dirty="0">
                <a:solidFill>
                  <a:srgbClr val="0A0C0F"/>
                </a:solidFill>
                <a:latin typeface="Roboto" panose="02000000000000000000" pitchFamily="2" charset="0"/>
              </a:rPr>
              <a:t>R</a:t>
            </a:r>
            <a:r>
              <a:rPr lang="en-US" b="1" i="0" dirty="0">
                <a:solidFill>
                  <a:srgbClr val="0A0C0F"/>
                </a:solidFill>
                <a:effectLst/>
                <a:latin typeface="Roboto" panose="02000000000000000000" pitchFamily="2" charset="0"/>
              </a:rPr>
              <a:t>are </a:t>
            </a:r>
            <a:r>
              <a:rPr lang="en-US" b="1" dirty="0">
                <a:solidFill>
                  <a:srgbClr val="0A0C0F"/>
                </a:solidFill>
                <a:latin typeface="Roboto" panose="02000000000000000000" pitchFamily="2" charset="0"/>
              </a:rPr>
              <a:t>D</a:t>
            </a:r>
            <a:r>
              <a:rPr lang="en-US" b="1" i="0" dirty="0">
                <a:solidFill>
                  <a:srgbClr val="0A0C0F"/>
                </a:solidFill>
                <a:effectLst/>
                <a:latin typeface="Roboto" panose="02000000000000000000" pitchFamily="2" charset="0"/>
              </a:rPr>
              <a:t>isease </a:t>
            </a:r>
            <a:r>
              <a:rPr lang="en-US" b="1" dirty="0">
                <a:solidFill>
                  <a:srgbClr val="0A0C0F"/>
                </a:solidFill>
                <a:latin typeface="Roboto" panose="02000000000000000000" pitchFamily="2" charset="0"/>
              </a:rPr>
              <a:t>T</a:t>
            </a:r>
            <a:r>
              <a:rPr lang="en-US" b="1" i="0" dirty="0">
                <a:solidFill>
                  <a:srgbClr val="0A0C0F"/>
                </a:solidFill>
                <a:effectLst/>
                <a:latin typeface="Roboto" panose="02000000000000000000" pitchFamily="2" charset="0"/>
              </a:rPr>
              <a:t>herapeutics</a:t>
            </a:r>
            <a:r>
              <a:rPr lang="en-US" sz="1600" b="0" i="0" dirty="0">
                <a:solidFill>
                  <a:srgbClr val="0A0C0F"/>
                </a:solidFill>
                <a:effectLst/>
                <a:latin typeface="Roboto" panose="02000000000000000000" pitchFamily="2" charset="0"/>
              </a:rPr>
              <a:t>: program target conditions like </a:t>
            </a:r>
            <a:r>
              <a:rPr lang="en-US" sz="1600" dirty="0">
                <a:solidFill>
                  <a:srgbClr val="0A0C0F"/>
                </a:solidFill>
                <a:latin typeface="Roboto" panose="02000000000000000000" pitchFamily="2" charset="0"/>
              </a:rPr>
              <a:t> </a:t>
            </a:r>
            <a:r>
              <a:rPr lang="en-US" sz="1600" b="1" dirty="0">
                <a:solidFill>
                  <a:srgbClr val="0A0C0F"/>
                </a:solidFill>
                <a:latin typeface="Roboto" panose="02000000000000000000" pitchFamily="2" charset="0"/>
              </a:rPr>
              <a:t>propionic acidemia</a:t>
            </a:r>
            <a:r>
              <a:rPr lang="en-US" sz="1600" dirty="0">
                <a:solidFill>
                  <a:srgbClr val="0A0C0F"/>
                </a:solidFill>
                <a:latin typeface="Roboto" panose="02000000000000000000" pitchFamily="2" charset="0"/>
              </a:rPr>
              <a:t>  and </a:t>
            </a:r>
            <a:r>
              <a:rPr lang="en-US" sz="1600" b="1" dirty="0">
                <a:solidFill>
                  <a:srgbClr val="0A0C0F"/>
                </a:solidFill>
                <a:latin typeface="Roboto" panose="02000000000000000000" pitchFamily="2" charset="0"/>
              </a:rPr>
              <a:t>cystic fibrosis</a:t>
            </a:r>
            <a:r>
              <a:rPr lang="en-US" sz="1600" dirty="0">
                <a:solidFill>
                  <a:srgbClr val="0A0C0F"/>
                </a:solidFill>
                <a:latin typeface="Roboto" panose="02000000000000000000" pitchFamily="2" charset="0"/>
              </a:rPr>
              <a:t>, using mRNA to produce functional proteins in affected cells</a:t>
            </a:r>
            <a:endParaRPr lang="en-US" sz="1600" b="0" i="0" dirty="0">
              <a:solidFill>
                <a:srgbClr val="0A0C0F"/>
              </a:solidFill>
              <a:effectLst/>
              <a:latin typeface="Roboto" panose="02000000000000000000" pitchFamily="2" charset="0"/>
            </a:endParaRPr>
          </a:p>
          <a:p>
            <a:pPr algn="l">
              <a:lnSpc>
                <a:spcPts val="1500"/>
              </a:lnSpc>
            </a:pPr>
            <a:endParaRPr lang="en-US" sz="1600" b="0" i="0" u="sng" dirty="0">
              <a:solidFill>
                <a:srgbClr val="7C4026"/>
              </a:solidFill>
              <a:effectLst/>
              <a:latin typeface="Roboto" panose="02000000000000000000" pitchFamily="2" charset="0"/>
              <a:hlinkClick r:id="rId2"/>
            </a:endParaRPr>
          </a:p>
          <a:p>
            <a:pPr>
              <a:buNone/>
            </a:pPr>
            <a:br>
              <a:rPr lang="en-US" sz="1600" dirty="0"/>
            </a:br>
            <a:endParaRPr lang="en-US" sz="1600" dirty="0"/>
          </a:p>
        </p:txBody>
      </p:sp>
    </p:spTree>
    <p:extLst>
      <p:ext uri="{BB962C8B-B14F-4D97-AF65-F5344CB8AC3E}">
        <p14:creationId xmlns:p14="http://schemas.microsoft.com/office/powerpoint/2010/main" val="2955693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CE8AB917-F21F-D5A4-43CE-68CC5ACE9CA7}"/>
              </a:ext>
            </a:extLst>
          </p:cNvPr>
          <p:cNvGraphicFramePr>
            <a:graphicFrameLocks noGrp="1"/>
          </p:cNvGraphicFramePr>
          <p:nvPr>
            <p:extLst>
              <p:ext uri="{D42A27DB-BD31-4B8C-83A1-F6EECF244321}">
                <p14:modId xmlns:p14="http://schemas.microsoft.com/office/powerpoint/2010/main" val="5300227"/>
              </p:ext>
            </p:extLst>
          </p:nvPr>
        </p:nvGraphicFramePr>
        <p:xfrm>
          <a:off x="3788026" y="2674879"/>
          <a:ext cx="7906669" cy="3012440"/>
        </p:xfrm>
        <a:graphic>
          <a:graphicData uri="http://schemas.openxmlformats.org/drawingml/2006/table">
            <a:tbl>
              <a:tblPr>
                <a:tableStyleId>{616DA210-FB5B-4158-B5E0-FEB733F419BA}</a:tableStyleId>
              </a:tblPr>
              <a:tblGrid>
                <a:gridCol w="2676942">
                  <a:extLst>
                    <a:ext uri="{9D8B030D-6E8A-4147-A177-3AD203B41FA5}">
                      <a16:colId xmlns:a16="http://schemas.microsoft.com/office/drawing/2014/main" val="3852244769"/>
                    </a:ext>
                  </a:extLst>
                </a:gridCol>
                <a:gridCol w="1836821">
                  <a:extLst>
                    <a:ext uri="{9D8B030D-6E8A-4147-A177-3AD203B41FA5}">
                      <a16:colId xmlns:a16="http://schemas.microsoft.com/office/drawing/2014/main" val="2011186700"/>
                    </a:ext>
                  </a:extLst>
                </a:gridCol>
                <a:gridCol w="3392906">
                  <a:extLst>
                    <a:ext uri="{9D8B030D-6E8A-4147-A177-3AD203B41FA5}">
                      <a16:colId xmlns:a16="http://schemas.microsoft.com/office/drawing/2014/main" val="1148145133"/>
                    </a:ext>
                  </a:extLst>
                </a:gridCol>
              </a:tblGrid>
              <a:tr h="0">
                <a:tc>
                  <a:txBody>
                    <a:bodyPr/>
                    <a:lstStyle/>
                    <a:p>
                      <a:pPr algn="l" fontAlgn="t">
                        <a:lnSpc>
                          <a:spcPts val="1950"/>
                        </a:lnSpc>
                        <a:buNone/>
                      </a:pPr>
                      <a:r>
                        <a:rPr lang="en-US" b="1" dirty="0">
                          <a:effectLst/>
                        </a:rPr>
                        <a:t>Year</a:t>
                      </a:r>
                      <a:endParaRPr lang="en-US" b="1" dirty="0">
                        <a:effectLst/>
                        <a:latin typeface="Roboto" panose="02000000000000000000" pitchFamily="2" charset="0"/>
                      </a:endParaRPr>
                    </a:p>
                  </a:txBody>
                  <a:tcPr marR="76200" marB="76200"/>
                </a:tc>
                <a:tc>
                  <a:txBody>
                    <a:bodyPr/>
                    <a:lstStyle/>
                    <a:p>
                      <a:pPr algn="l" fontAlgn="t">
                        <a:lnSpc>
                          <a:spcPts val="1950"/>
                        </a:lnSpc>
                        <a:buNone/>
                      </a:pPr>
                      <a:r>
                        <a:rPr lang="en-US" b="1">
                          <a:effectLst/>
                        </a:rPr>
                        <a:t>Revenue (USD millions)</a:t>
                      </a:r>
                      <a:endParaRPr lang="en-US" b="1">
                        <a:effectLst/>
                        <a:latin typeface="Roboto" panose="02000000000000000000" pitchFamily="2" charset="0"/>
                      </a:endParaRPr>
                    </a:p>
                  </a:txBody>
                  <a:tcPr marR="76200" marB="76200"/>
                </a:tc>
                <a:tc>
                  <a:txBody>
                    <a:bodyPr/>
                    <a:lstStyle/>
                    <a:p>
                      <a:pPr algn="l" fontAlgn="t">
                        <a:lnSpc>
                          <a:spcPts val="1950"/>
                        </a:lnSpc>
                        <a:buNone/>
                      </a:pPr>
                      <a:r>
                        <a:rPr lang="en-US" b="1">
                          <a:effectLst/>
                        </a:rPr>
                        <a:t>Net Income (USD millions)</a:t>
                      </a:r>
                      <a:endParaRPr lang="en-US" b="1">
                        <a:effectLst/>
                        <a:latin typeface="Roboto" panose="02000000000000000000" pitchFamily="2" charset="0"/>
                      </a:endParaRPr>
                    </a:p>
                  </a:txBody>
                  <a:tcPr marB="76200"/>
                </a:tc>
                <a:extLst>
                  <a:ext uri="{0D108BD9-81ED-4DB2-BD59-A6C34878D82A}">
                    <a16:rowId xmlns:a16="http://schemas.microsoft.com/office/drawing/2014/main" val="4106415427"/>
                  </a:ext>
                </a:extLst>
              </a:tr>
              <a:tr h="0">
                <a:tc>
                  <a:txBody>
                    <a:bodyPr/>
                    <a:lstStyle/>
                    <a:p>
                      <a:pPr fontAlgn="t">
                        <a:buNone/>
                      </a:pPr>
                      <a:r>
                        <a:rPr lang="en-US" dirty="0">
                          <a:effectLst/>
                        </a:rPr>
                        <a:t>2019</a:t>
                      </a:r>
                    </a:p>
                  </a:txBody>
                  <a:tcPr marR="76200" marB="76200"/>
                </a:tc>
                <a:tc>
                  <a:txBody>
                    <a:bodyPr/>
                    <a:lstStyle/>
                    <a:p>
                      <a:pPr fontAlgn="t">
                        <a:buNone/>
                      </a:pPr>
                      <a:r>
                        <a:rPr lang="en-US" dirty="0">
                          <a:effectLst/>
                        </a:rPr>
                        <a:t>60</a:t>
                      </a:r>
                    </a:p>
                  </a:txBody>
                  <a:tcPr marR="76200" marB="76200"/>
                </a:tc>
                <a:tc>
                  <a:txBody>
                    <a:bodyPr/>
                    <a:lstStyle/>
                    <a:p>
                      <a:pPr fontAlgn="t">
                        <a:buNone/>
                      </a:pPr>
                      <a:r>
                        <a:rPr lang="en-US">
                          <a:effectLst/>
                        </a:rPr>
                        <a:t>(514)</a:t>
                      </a:r>
                    </a:p>
                  </a:txBody>
                  <a:tcPr marB="76200"/>
                </a:tc>
                <a:extLst>
                  <a:ext uri="{0D108BD9-81ED-4DB2-BD59-A6C34878D82A}">
                    <a16:rowId xmlns:a16="http://schemas.microsoft.com/office/drawing/2014/main" val="683806255"/>
                  </a:ext>
                </a:extLst>
              </a:tr>
              <a:tr h="0">
                <a:tc>
                  <a:txBody>
                    <a:bodyPr/>
                    <a:lstStyle/>
                    <a:p>
                      <a:pPr fontAlgn="t">
                        <a:buNone/>
                      </a:pPr>
                      <a:r>
                        <a:rPr lang="en-US">
                          <a:effectLst/>
                        </a:rPr>
                        <a:t>2020</a:t>
                      </a:r>
                    </a:p>
                  </a:txBody>
                  <a:tcPr marR="76200" marB="76200"/>
                </a:tc>
                <a:tc>
                  <a:txBody>
                    <a:bodyPr/>
                    <a:lstStyle/>
                    <a:p>
                      <a:pPr fontAlgn="t">
                        <a:buNone/>
                      </a:pPr>
                      <a:r>
                        <a:rPr lang="en-US" dirty="0">
                          <a:effectLst/>
                        </a:rPr>
                        <a:t>803</a:t>
                      </a:r>
                    </a:p>
                  </a:txBody>
                  <a:tcPr marR="76200" marB="76200"/>
                </a:tc>
                <a:tc>
                  <a:txBody>
                    <a:bodyPr/>
                    <a:lstStyle/>
                    <a:p>
                      <a:pPr fontAlgn="t">
                        <a:buNone/>
                      </a:pPr>
                      <a:r>
                        <a:rPr lang="en-US">
                          <a:effectLst/>
                        </a:rPr>
                        <a:t>(747)</a:t>
                      </a:r>
                    </a:p>
                  </a:txBody>
                  <a:tcPr marB="76200"/>
                </a:tc>
                <a:extLst>
                  <a:ext uri="{0D108BD9-81ED-4DB2-BD59-A6C34878D82A}">
                    <a16:rowId xmlns:a16="http://schemas.microsoft.com/office/drawing/2014/main" val="2451601277"/>
                  </a:ext>
                </a:extLst>
              </a:tr>
              <a:tr h="330074">
                <a:tc>
                  <a:txBody>
                    <a:bodyPr/>
                    <a:lstStyle/>
                    <a:p>
                      <a:pPr fontAlgn="t">
                        <a:buNone/>
                      </a:pPr>
                      <a:r>
                        <a:rPr lang="en-US">
                          <a:effectLst/>
                        </a:rPr>
                        <a:t>2021</a:t>
                      </a:r>
                    </a:p>
                  </a:txBody>
                  <a:tcPr marR="76200" marB="76200"/>
                </a:tc>
                <a:tc>
                  <a:txBody>
                    <a:bodyPr/>
                    <a:lstStyle/>
                    <a:p>
                      <a:pPr fontAlgn="t">
                        <a:buNone/>
                      </a:pPr>
                      <a:r>
                        <a:rPr lang="en-US">
                          <a:effectLst/>
                        </a:rPr>
                        <a:t>18,471</a:t>
                      </a:r>
                    </a:p>
                  </a:txBody>
                  <a:tcPr marR="76200" marB="76200"/>
                </a:tc>
                <a:tc>
                  <a:txBody>
                    <a:bodyPr/>
                    <a:lstStyle/>
                    <a:p>
                      <a:pPr fontAlgn="t">
                        <a:buNone/>
                      </a:pPr>
                      <a:r>
                        <a:rPr lang="en-US">
                          <a:effectLst/>
                        </a:rPr>
                        <a:t>12,202</a:t>
                      </a:r>
                    </a:p>
                  </a:txBody>
                  <a:tcPr marB="76200"/>
                </a:tc>
                <a:extLst>
                  <a:ext uri="{0D108BD9-81ED-4DB2-BD59-A6C34878D82A}">
                    <a16:rowId xmlns:a16="http://schemas.microsoft.com/office/drawing/2014/main" val="1527779415"/>
                  </a:ext>
                </a:extLst>
              </a:tr>
              <a:tr h="0">
                <a:tc>
                  <a:txBody>
                    <a:bodyPr/>
                    <a:lstStyle/>
                    <a:p>
                      <a:pPr fontAlgn="t">
                        <a:buNone/>
                      </a:pPr>
                      <a:r>
                        <a:rPr lang="en-US">
                          <a:effectLst/>
                        </a:rPr>
                        <a:t>2022</a:t>
                      </a:r>
                    </a:p>
                  </a:txBody>
                  <a:tcPr marR="76200" marB="76200"/>
                </a:tc>
                <a:tc>
                  <a:txBody>
                    <a:bodyPr/>
                    <a:lstStyle/>
                    <a:p>
                      <a:pPr fontAlgn="t">
                        <a:buNone/>
                      </a:pPr>
                      <a:r>
                        <a:rPr lang="en-US">
                          <a:effectLst/>
                        </a:rPr>
                        <a:t>19,263</a:t>
                      </a:r>
                    </a:p>
                  </a:txBody>
                  <a:tcPr marR="76200" marB="76200"/>
                </a:tc>
                <a:tc>
                  <a:txBody>
                    <a:bodyPr/>
                    <a:lstStyle/>
                    <a:p>
                      <a:pPr fontAlgn="t">
                        <a:buNone/>
                      </a:pPr>
                      <a:r>
                        <a:rPr lang="en-US">
                          <a:effectLst/>
                        </a:rPr>
                        <a:t>8,362</a:t>
                      </a:r>
                    </a:p>
                  </a:txBody>
                  <a:tcPr marB="76200"/>
                </a:tc>
                <a:extLst>
                  <a:ext uri="{0D108BD9-81ED-4DB2-BD59-A6C34878D82A}">
                    <a16:rowId xmlns:a16="http://schemas.microsoft.com/office/drawing/2014/main" val="1222380109"/>
                  </a:ext>
                </a:extLst>
              </a:tr>
              <a:tr h="0">
                <a:tc>
                  <a:txBody>
                    <a:bodyPr/>
                    <a:lstStyle/>
                    <a:p>
                      <a:pPr fontAlgn="t">
                        <a:buNone/>
                      </a:pPr>
                      <a:r>
                        <a:rPr lang="en-US">
                          <a:effectLst/>
                        </a:rPr>
                        <a:t>2023</a:t>
                      </a:r>
                    </a:p>
                  </a:txBody>
                  <a:tcPr marR="76200" marB="76200"/>
                </a:tc>
                <a:tc>
                  <a:txBody>
                    <a:bodyPr/>
                    <a:lstStyle/>
                    <a:p>
                      <a:pPr fontAlgn="t">
                        <a:buNone/>
                      </a:pPr>
                      <a:r>
                        <a:rPr lang="en-US">
                          <a:effectLst/>
                        </a:rPr>
                        <a:t>6,848</a:t>
                      </a:r>
                    </a:p>
                  </a:txBody>
                  <a:tcPr marR="76200" marB="76200"/>
                </a:tc>
                <a:tc>
                  <a:txBody>
                    <a:bodyPr/>
                    <a:lstStyle/>
                    <a:p>
                      <a:pPr fontAlgn="t">
                        <a:buNone/>
                      </a:pPr>
                      <a:r>
                        <a:rPr lang="en-US">
                          <a:effectLst/>
                        </a:rPr>
                        <a:t>(4,710)</a:t>
                      </a:r>
                    </a:p>
                  </a:txBody>
                  <a:tcPr marB="76200"/>
                </a:tc>
                <a:extLst>
                  <a:ext uri="{0D108BD9-81ED-4DB2-BD59-A6C34878D82A}">
                    <a16:rowId xmlns:a16="http://schemas.microsoft.com/office/drawing/2014/main" val="3374425907"/>
                  </a:ext>
                </a:extLst>
              </a:tr>
              <a:tr h="0">
                <a:tc>
                  <a:txBody>
                    <a:bodyPr/>
                    <a:lstStyle/>
                    <a:p>
                      <a:pPr fontAlgn="t">
                        <a:buNone/>
                      </a:pPr>
                      <a:r>
                        <a:rPr lang="en-US">
                          <a:effectLst/>
                        </a:rPr>
                        <a:t>2024</a:t>
                      </a:r>
                    </a:p>
                  </a:txBody>
                  <a:tcPr marR="76200" marB="76200"/>
                </a:tc>
                <a:tc>
                  <a:txBody>
                    <a:bodyPr/>
                    <a:lstStyle/>
                    <a:p>
                      <a:pPr fontAlgn="t">
                        <a:buNone/>
                      </a:pPr>
                      <a:r>
                        <a:rPr lang="en-US">
                          <a:effectLst/>
                        </a:rPr>
                        <a:t>3,200</a:t>
                      </a:r>
                    </a:p>
                  </a:txBody>
                  <a:tcPr marR="76200" marB="76200"/>
                </a:tc>
                <a:tc>
                  <a:txBody>
                    <a:bodyPr/>
                    <a:lstStyle/>
                    <a:p>
                      <a:pPr fontAlgn="t">
                        <a:buNone/>
                      </a:pPr>
                      <a:r>
                        <a:rPr lang="en-US" dirty="0">
                          <a:effectLst/>
                        </a:rPr>
                        <a:t>(3,600)</a:t>
                      </a:r>
                    </a:p>
                  </a:txBody>
                  <a:tcPr marB="76200"/>
                </a:tc>
                <a:extLst>
                  <a:ext uri="{0D108BD9-81ED-4DB2-BD59-A6C34878D82A}">
                    <a16:rowId xmlns:a16="http://schemas.microsoft.com/office/drawing/2014/main" val="2317864978"/>
                  </a:ext>
                </a:extLst>
              </a:tr>
            </a:tbl>
          </a:graphicData>
        </a:graphic>
      </p:graphicFrame>
      <p:sp>
        <p:nvSpPr>
          <p:cNvPr id="7" name="TextBox 6">
            <a:extLst>
              <a:ext uri="{FF2B5EF4-FFF2-40B4-BE49-F238E27FC236}">
                <a16:creationId xmlns:a16="http://schemas.microsoft.com/office/drawing/2014/main" id="{1E8C22FA-B051-84A0-1234-E260465548B3}"/>
              </a:ext>
            </a:extLst>
          </p:cNvPr>
          <p:cNvSpPr txBox="1"/>
          <p:nvPr/>
        </p:nvSpPr>
        <p:spPr>
          <a:xfrm>
            <a:off x="417096" y="216568"/>
            <a:ext cx="11165304" cy="2451953"/>
          </a:xfrm>
          <a:prstGeom prst="rect">
            <a:avLst/>
          </a:prstGeom>
          <a:noFill/>
        </p:spPr>
        <p:txBody>
          <a:bodyPr wrap="square">
            <a:spAutoFit/>
          </a:bodyPr>
          <a:lstStyle/>
          <a:p>
            <a:pPr algn="l">
              <a:lnSpc>
                <a:spcPts val="1950"/>
              </a:lnSpc>
              <a:buNone/>
            </a:pPr>
            <a:r>
              <a:rPr lang="en-US" b="1" dirty="0">
                <a:solidFill>
                  <a:srgbClr val="0A0C0F"/>
                </a:solidFill>
                <a:effectLst/>
                <a:latin typeface="Roboto" panose="02000000000000000000" pitchFamily="2" charset="0"/>
              </a:rPr>
              <a:t> </a:t>
            </a:r>
            <a:r>
              <a:rPr lang="en-US" sz="2400" b="1" u="sng" dirty="0">
                <a:solidFill>
                  <a:srgbClr val="0A0C0F"/>
                </a:solidFill>
                <a:effectLst/>
                <a:latin typeface="Roboto" panose="02000000000000000000" pitchFamily="2" charset="0"/>
              </a:rPr>
              <a:t>A</a:t>
            </a:r>
            <a:r>
              <a:rPr lang="en-US" sz="2400" b="1" u="sng" dirty="0">
                <a:solidFill>
                  <a:srgbClr val="0A0C0F"/>
                </a:solidFill>
                <a:latin typeface="Roboto" panose="02000000000000000000" pitchFamily="2" charset="0"/>
              </a:rPr>
              <a:t>pplications,</a:t>
            </a:r>
            <a:r>
              <a:rPr lang="en-US" sz="2400" b="1" u="sng" dirty="0">
                <a:solidFill>
                  <a:srgbClr val="0A0C0F"/>
                </a:solidFill>
                <a:effectLst/>
                <a:latin typeface="Roboto" panose="02000000000000000000" pitchFamily="2" charset="0"/>
              </a:rPr>
              <a:t> Partnerships &amp; Global Expansion</a:t>
            </a:r>
          </a:p>
          <a:p>
            <a:pPr algn="l">
              <a:lnSpc>
                <a:spcPts val="1950"/>
              </a:lnSpc>
              <a:buNone/>
            </a:pPr>
            <a:endParaRPr lang="en-US" sz="1700" b="1" dirty="0">
              <a:solidFill>
                <a:srgbClr val="0A0C0F"/>
              </a:solidFill>
              <a:effectLst/>
              <a:latin typeface="Roboto" panose="02000000000000000000" pitchFamily="2" charset="0"/>
            </a:endParaRPr>
          </a:p>
          <a:p>
            <a:pPr algn="l">
              <a:buFont typeface="Arial" panose="020B0604020202020204" pitchFamily="34" charset="0"/>
              <a:buChar char="•"/>
            </a:pPr>
            <a:r>
              <a:rPr lang="en-US" sz="1700" b="1" dirty="0">
                <a:solidFill>
                  <a:srgbClr val="0A0C0F"/>
                </a:solidFill>
                <a:latin typeface="Roboto" panose="02000000000000000000" pitchFamily="2" charset="0"/>
              </a:rPr>
              <a:t>UK Innovation and Technology Centre (MITC), Harwell:</a:t>
            </a:r>
            <a:r>
              <a:rPr lang="en-US" sz="1700" dirty="0">
                <a:solidFill>
                  <a:srgbClr val="0A0C0F"/>
                </a:solidFill>
                <a:latin typeface="Roboto" panose="02000000000000000000" pitchFamily="2" charset="0"/>
              </a:rPr>
              <a:t> Can produce up to 250 million vaccines/year in a pandemic scenario.</a:t>
            </a:r>
            <a:endParaRPr lang="en-US" sz="1700" b="0" i="0" dirty="0">
              <a:solidFill>
                <a:srgbClr val="0A0C0F"/>
              </a:solidFill>
              <a:effectLst/>
              <a:latin typeface="Roboto" panose="02000000000000000000" pitchFamily="2" charset="0"/>
            </a:endParaRPr>
          </a:p>
          <a:p>
            <a:pPr>
              <a:buFont typeface="Arial" panose="020B0604020202020204" pitchFamily="34" charset="0"/>
              <a:buChar char="•"/>
            </a:pPr>
            <a:r>
              <a:rPr lang="en-US" sz="1700" dirty="0">
                <a:solidFill>
                  <a:srgbClr val="0A0C0F"/>
                </a:solidFill>
                <a:latin typeface="Roboto" panose="02000000000000000000" pitchFamily="2" charset="0"/>
              </a:rPr>
              <a:t>Collaborations in </a:t>
            </a:r>
            <a:r>
              <a:rPr lang="en-US" sz="1700" b="1" dirty="0">
                <a:solidFill>
                  <a:srgbClr val="0A0C0F"/>
                </a:solidFill>
                <a:latin typeface="Roboto" panose="02000000000000000000" pitchFamily="2" charset="0"/>
              </a:rPr>
              <a:t>Canada, Australia, and Europe</a:t>
            </a:r>
            <a:r>
              <a:rPr lang="en-US" sz="1700" dirty="0">
                <a:solidFill>
                  <a:srgbClr val="0A0C0F"/>
                </a:solidFill>
                <a:latin typeface="Roboto" panose="02000000000000000000" pitchFamily="2" charset="0"/>
              </a:rPr>
              <a:t> expand manufacturing and onshore capabilities to support Regulatory approvals and responses from public health authorities.</a:t>
            </a:r>
            <a:endParaRPr lang="en-US" sz="1700" b="0" i="0" dirty="0">
              <a:solidFill>
                <a:srgbClr val="0A0C0F"/>
              </a:solidFill>
              <a:effectLst/>
              <a:latin typeface="Roboto" panose="02000000000000000000" pitchFamily="2" charset="0"/>
            </a:endParaRPr>
          </a:p>
          <a:p>
            <a:pPr algn="l">
              <a:buFont typeface="Arial" panose="020B0604020202020204" pitchFamily="34" charset="0"/>
              <a:buChar char="•"/>
            </a:pPr>
            <a:r>
              <a:rPr lang="en-US" sz="1700" dirty="0">
                <a:solidFill>
                  <a:srgbClr val="0A0C0F"/>
                </a:solidFill>
                <a:latin typeface="Roboto" panose="02000000000000000000" pitchFamily="2" charset="0"/>
              </a:rPr>
              <a:t>Partnerships with </a:t>
            </a:r>
            <a:r>
              <a:rPr lang="en-US" sz="1700" b="1" dirty="0">
                <a:solidFill>
                  <a:srgbClr val="0A0C0F"/>
                </a:solidFill>
                <a:latin typeface="Roboto" panose="02000000000000000000" pitchFamily="2" charset="0"/>
              </a:rPr>
              <a:t>Merck, AstraZeneca, Vertex Pharmaceuticals</a:t>
            </a:r>
            <a:r>
              <a:rPr lang="en-US" sz="1700" dirty="0">
                <a:solidFill>
                  <a:srgbClr val="0A0C0F"/>
                </a:solidFill>
                <a:latin typeface="Roboto" panose="02000000000000000000" pitchFamily="2" charset="0"/>
              </a:rPr>
              <a:t>, and defense agencies like DARPA accelerate research.</a:t>
            </a:r>
            <a:endParaRPr lang="en-US" b="1" dirty="0">
              <a:solidFill>
                <a:srgbClr val="0A0C0F"/>
              </a:solidFill>
              <a:latin typeface="Roboto" panose="02000000000000000000" pitchFamily="2" charset="0"/>
            </a:endParaRPr>
          </a:p>
          <a:p>
            <a:pPr algn="l"/>
            <a:r>
              <a:rPr lang="en-US" b="1" dirty="0">
                <a:solidFill>
                  <a:srgbClr val="0A0C0F"/>
                </a:solidFill>
                <a:latin typeface="Roboto" panose="02000000000000000000" pitchFamily="2" charset="0"/>
              </a:rPr>
              <a:t>Stock and financial historical performance:</a:t>
            </a:r>
            <a:endParaRPr lang="en-US" b="1" dirty="0">
              <a:solidFill>
                <a:srgbClr val="0A0C0F"/>
              </a:solidFill>
              <a:effectLst/>
              <a:latin typeface="Roboto" panose="02000000000000000000" pitchFamily="2" charset="0"/>
            </a:endParaRPr>
          </a:p>
        </p:txBody>
      </p:sp>
    </p:spTree>
    <p:extLst>
      <p:ext uri="{BB962C8B-B14F-4D97-AF65-F5344CB8AC3E}">
        <p14:creationId xmlns:p14="http://schemas.microsoft.com/office/powerpoint/2010/main" val="1102862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A0499DC4-F314-A857-5779-FFDD70BAE701}"/>
              </a:ext>
            </a:extLst>
          </p:cNvPr>
          <p:cNvGraphicFramePr>
            <a:graphicFrameLocks noGrp="1"/>
          </p:cNvGraphicFramePr>
          <p:nvPr>
            <p:extLst>
              <p:ext uri="{D42A27DB-BD31-4B8C-83A1-F6EECF244321}">
                <p14:modId xmlns:p14="http://schemas.microsoft.com/office/powerpoint/2010/main" val="3729281889"/>
              </p:ext>
            </p:extLst>
          </p:nvPr>
        </p:nvGraphicFramePr>
        <p:xfrm>
          <a:off x="1042736" y="2318084"/>
          <a:ext cx="8948927" cy="3851418"/>
        </p:xfrm>
        <a:graphic>
          <a:graphicData uri="http://schemas.openxmlformats.org/drawingml/2006/table">
            <a:tbl>
              <a:tblPr firstRow="1" bandRow="1">
                <a:tableStyleId>{74C1A8A3-306A-4EB7-A6B1-4F7E0EB9C5D6}</a:tableStyleId>
              </a:tblPr>
              <a:tblGrid>
                <a:gridCol w="2310063">
                  <a:extLst>
                    <a:ext uri="{9D8B030D-6E8A-4147-A177-3AD203B41FA5}">
                      <a16:colId xmlns:a16="http://schemas.microsoft.com/office/drawing/2014/main" val="2278272881"/>
                    </a:ext>
                  </a:extLst>
                </a:gridCol>
                <a:gridCol w="3641558">
                  <a:extLst>
                    <a:ext uri="{9D8B030D-6E8A-4147-A177-3AD203B41FA5}">
                      <a16:colId xmlns:a16="http://schemas.microsoft.com/office/drawing/2014/main" val="4144541417"/>
                    </a:ext>
                  </a:extLst>
                </a:gridCol>
                <a:gridCol w="2997306">
                  <a:extLst>
                    <a:ext uri="{9D8B030D-6E8A-4147-A177-3AD203B41FA5}">
                      <a16:colId xmlns:a16="http://schemas.microsoft.com/office/drawing/2014/main" val="1274987999"/>
                    </a:ext>
                  </a:extLst>
                </a:gridCol>
              </a:tblGrid>
              <a:tr h="159072">
                <a:tc>
                  <a:txBody>
                    <a:bodyPr/>
                    <a:lstStyle/>
                    <a:p>
                      <a:r>
                        <a:rPr lang="en-US" dirty="0"/>
                        <a:t>Competitor</a:t>
                      </a:r>
                    </a:p>
                  </a:txBody>
                  <a:tcPr/>
                </a:tc>
                <a:tc>
                  <a:txBody>
                    <a:bodyPr/>
                    <a:lstStyle/>
                    <a:p>
                      <a:r>
                        <a:rPr lang="en-US" dirty="0"/>
                        <a:t>Strengths </a:t>
                      </a:r>
                    </a:p>
                  </a:txBody>
                  <a:tcPr/>
                </a:tc>
                <a:tc>
                  <a:txBody>
                    <a:bodyPr/>
                    <a:lstStyle/>
                    <a:p>
                      <a:r>
                        <a:rPr lang="en-US" dirty="0"/>
                        <a:t>Threat to moderna </a:t>
                      </a:r>
                    </a:p>
                  </a:txBody>
                  <a:tcPr/>
                </a:tc>
                <a:extLst>
                  <a:ext uri="{0D108BD9-81ED-4DB2-BD59-A6C34878D82A}">
                    <a16:rowId xmlns:a16="http://schemas.microsoft.com/office/drawing/2014/main" val="916086583"/>
                  </a:ext>
                </a:extLst>
              </a:tr>
              <a:tr h="837398">
                <a:tc>
                  <a:txBody>
                    <a:bodyPr/>
                    <a:lstStyle/>
                    <a:p>
                      <a:r>
                        <a:rPr lang="en-US" dirty="0"/>
                        <a:t>Pfizer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Global scale, diversified portfolio</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Dominates vaccine market</a:t>
                      </a:r>
                    </a:p>
                    <a:p>
                      <a:endParaRPr lang="en-US" dirty="0"/>
                    </a:p>
                  </a:txBody>
                  <a:tcPr/>
                </a:tc>
                <a:extLst>
                  <a:ext uri="{0D108BD9-81ED-4DB2-BD59-A6C34878D82A}">
                    <a16:rowId xmlns:a16="http://schemas.microsoft.com/office/drawing/2014/main" val="3243152533"/>
                  </a:ext>
                </a:extLst>
              </a:tr>
              <a:tr h="465221">
                <a:tc>
                  <a:txBody>
                    <a:bodyPr/>
                    <a:lstStyle/>
                    <a:p>
                      <a:r>
                        <a:rPr lang="en-US" dirty="0"/>
                        <a:t>BioNTech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Strong mRNA R&amp;D, partnerships</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Competes directly in mRNA vaccines</a:t>
                      </a:r>
                    </a:p>
                    <a:p>
                      <a:endParaRPr lang="en-US" dirty="0"/>
                    </a:p>
                  </a:txBody>
                  <a:tcPr/>
                </a:tc>
                <a:extLst>
                  <a:ext uri="{0D108BD9-81ED-4DB2-BD59-A6C34878D82A}">
                    <a16:rowId xmlns:a16="http://schemas.microsoft.com/office/drawing/2014/main" val="3731600339"/>
                  </a:ext>
                </a:extLst>
              </a:tr>
              <a:tr h="1093780">
                <a:tc>
                  <a:txBody>
                    <a:bodyPr/>
                    <a:lstStyle/>
                    <a:p>
                      <a:r>
                        <a:rPr lang="en-US" dirty="0"/>
                        <a:t>CureVac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Cost-efficient mRNA tech</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Threat in emerging markets</a:t>
                      </a:r>
                    </a:p>
                    <a:p>
                      <a:endParaRPr lang="en-US" dirty="0"/>
                    </a:p>
                  </a:txBody>
                  <a:tcPr/>
                </a:tc>
                <a:extLst>
                  <a:ext uri="{0D108BD9-81ED-4DB2-BD59-A6C34878D82A}">
                    <a16:rowId xmlns:a16="http://schemas.microsoft.com/office/drawing/2014/main" val="1557542366"/>
                  </a:ext>
                </a:extLst>
              </a:tr>
              <a:tr h="0">
                <a:tc>
                  <a:txBody>
                    <a:bodyPr/>
                    <a:lstStyle/>
                    <a:p>
                      <a:r>
                        <a:rPr lang="en-US" dirty="0"/>
                        <a:t>Novavax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Protein-based vaccines</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Alternative to mRNA vaccines</a:t>
                      </a:r>
                    </a:p>
                    <a:p>
                      <a:endParaRPr lang="en-US" dirty="0"/>
                    </a:p>
                  </a:txBody>
                  <a:tcPr/>
                </a:tc>
                <a:extLst>
                  <a:ext uri="{0D108BD9-81ED-4DB2-BD59-A6C34878D82A}">
                    <a16:rowId xmlns:a16="http://schemas.microsoft.com/office/drawing/2014/main" val="3325288119"/>
                  </a:ext>
                </a:extLst>
              </a:tr>
            </a:tbl>
          </a:graphicData>
        </a:graphic>
      </p:graphicFrame>
      <p:sp>
        <p:nvSpPr>
          <p:cNvPr id="23" name="Title 22">
            <a:extLst>
              <a:ext uri="{FF2B5EF4-FFF2-40B4-BE49-F238E27FC236}">
                <a16:creationId xmlns:a16="http://schemas.microsoft.com/office/drawing/2014/main" id="{A48379C7-0D40-8038-CF33-D822039E6325}"/>
              </a:ext>
            </a:extLst>
          </p:cNvPr>
          <p:cNvSpPr>
            <a:spLocks noGrp="1"/>
          </p:cNvSpPr>
          <p:nvPr>
            <p:ph type="title"/>
          </p:nvPr>
        </p:nvSpPr>
        <p:spPr/>
        <p:txBody>
          <a:bodyPr/>
          <a:lstStyle/>
          <a:p>
            <a:r>
              <a:rPr lang="en-US" dirty="0"/>
              <a:t>Challenges faced by moderna</a:t>
            </a:r>
          </a:p>
        </p:txBody>
      </p:sp>
    </p:spTree>
    <p:extLst>
      <p:ext uri="{BB962C8B-B14F-4D97-AF65-F5344CB8AC3E}">
        <p14:creationId xmlns:p14="http://schemas.microsoft.com/office/powerpoint/2010/main" val="2637647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35CC8E8-0648-A5F5-74D0-BE5475530C51}"/>
              </a:ext>
            </a:extLst>
          </p:cNvPr>
          <p:cNvSpPr>
            <a:spLocks noGrp="1"/>
          </p:cNvSpPr>
          <p:nvPr>
            <p:ph type="title"/>
          </p:nvPr>
        </p:nvSpPr>
        <p:spPr/>
        <p:txBody>
          <a:bodyPr/>
          <a:lstStyle/>
          <a:p>
            <a:endParaRPr lang="en-US" dirty="0"/>
          </a:p>
        </p:txBody>
      </p:sp>
      <p:sp>
        <p:nvSpPr>
          <p:cNvPr id="11" name="Content Placeholder 10">
            <a:extLst>
              <a:ext uri="{FF2B5EF4-FFF2-40B4-BE49-F238E27FC236}">
                <a16:creationId xmlns:a16="http://schemas.microsoft.com/office/drawing/2014/main" id="{0F62D41A-8079-88A2-B85B-50F170A2D3E2}"/>
              </a:ext>
            </a:extLst>
          </p:cNvPr>
          <p:cNvSpPr>
            <a:spLocks noGrp="1"/>
          </p:cNvSpPr>
          <p:nvPr>
            <p:ph idx="1"/>
          </p:nvPr>
        </p:nvSpPr>
        <p:spPr/>
        <p:txBody>
          <a:bodyPr>
            <a:normAutofit/>
          </a:bodyPr>
          <a:lstStyle/>
          <a:p>
            <a:pPr marL="342900" indent="-342900">
              <a:buFont typeface="+mj-lt"/>
              <a:buAutoNum type="arabicPeriod"/>
            </a:pPr>
            <a:r>
              <a:rPr lang="en-US" sz="1600" b="1" dirty="0"/>
              <a:t>Revenue decline</a:t>
            </a:r>
            <a:r>
              <a:rPr lang="en-US" sz="1600" dirty="0"/>
              <a:t>: 2024 revenue dropped to $3.2 billion, with projections of $1.5–$2.5 billion in 2025, reflecting reduced COVID-19 vaccine demand. </a:t>
            </a:r>
          </a:p>
          <a:p>
            <a:pPr marL="342900" indent="-342900">
              <a:buFont typeface="+mj-lt"/>
              <a:buAutoNum type="arabicPeriod"/>
            </a:pPr>
            <a:r>
              <a:rPr lang="en-US" sz="1600" b="1" dirty="0"/>
              <a:t>Profitability issues</a:t>
            </a:r>
            <a:r>
              <a:rPr lang="en-US" sz="1600" dirty="0"/>
              <a:t>: Gross margin at -105.8%, operating margin -126.4%, and net margin -145.2% in 2026. </a:t>
            </a:r>
          </a:p>
          <a:p>
            <a:pPr marL="342900" indent="-342900">
              <a:buFont typeface="+mj-lt"/>
              <a:buAutoNum type="arabicPeriod"/>
            </a:pPr>
            <a:r>
              <a:rPr lang="en-US" sz="1600" b="1" dirty="0"/>
              <a:t>Competition</a:t>
            </a:r>
            <a:r>
              <a:rPr lang="en-US" sz="1600" dirty="0"/>
              <a:t>: Direct rivals include Pfizer, BioNTech, CureVac, and Novavax, all advancing mRNA and vaccine pipelines. </a:t>
            </a:r>
          </a:p>
          <a:p>
            <a:pPr marL="342900" indent="-342900">
              <a:buFont typeface="+mj-lt"/>
              <a:buAutoNum type="arabicPeriod"/>
            </a:pPr>
            <a:r>
              <a:rPr lang="en-US" sz="1600" b="1" dirty="0"/>
              <a:t>Diversification pressure</a:t>
            </a:r>
            <a:r>
              <a:rPr lang="en-US" sz="1600" dirty="0"/>
              <a:t>: Heavy reliance on Spikevax (COVID-19 vaccine) forces Moderna to push new products like RSV vaccine (</a:t>
            </a:r>
            <a:r>
              <a:rPr lang="en-US" sz="1600" dirty="0" err="1"/>
              <a:t>mRESVIA</a:t>
            </a:r>
            <a:r>
              <a:rPr lang="en-US" sz="1600" dirty="0"/>
              <a:t>) and oncology therapies. </a:t>
            </a:r>
          </a:p>
          <a:p>
            <a:pPr marL="342900" indent="-342900">
              <a:buFont typeface="+mj-lt"/>
              <a:buAutoNum type="arabicPeriod"/>
            </a:pPr>
            <a:r>
              <a:rPr lang="en-US" sz="1600" b="1" dirty="0"/>
              <a:t>Regulatory hurdles</a:t>
            </a:r>
            <a:r>
              <a:rPr lang="en-US" sz="1600" dirty="0"/>
              <a:t>: Approval timelines for new vaccines and therapies remain uncertain, slowing market entry.</a:t>
            </a:r>
          </a:p>
          <a:p>
            <a:pPr marL="342900" indent="-342900">
              <a:buFont typeface="+mj-lt"/>
              <a:buAutoNum type="arabicPeriod"/>
            </a:pPr>
            <a:r>
              <a:rPr lang="en-US" sz="1600" b="1" dirty="0"/>
              <a:t>Cost efficiency</a:t>
            </a:r>
            <a:r>
              <a:rPr lang="en-US" sz="1600" dirty="0"/>
              <a:t>: Targeting cash breakeven by 2028 through operational streamlining. </a:t>
            </a:r>
          </a:p>
          <a:p>
            <a:endParaRPr lang="en-US" sz="1600" dirty="0"/>
          </a:p>
        </p:txBody>
      </p:sp>
      <p:sp>
        <p:nvSpPr>
          <p:cNvPr id="12" name="Text Placeholder 11">
            <a:extLst>
              <a:ext uri="{FF2B5EF4-FFF2-40B4-BE49-F238E27FC236}">
                <a16:creationId xmlns:a16="http://schemas.microsoft.com/office/drawing/2014/main" id="{7C2B90F0-EE6E-EE7C-FB88-CBFEA04D43FE}"/>
              </a:ext>
            </a:extLst>
          </p:cNvPr>
          <p:cNvSpPr>
            <a:spLocks noGrp="1"/>
          </p:cNvSpPr>
          <p:nvPr>
            <p:ph type="body" sz="half" idx="2"/>
          </p:nvPr>
        </p:nvSpPr>
        <p:spPr/>
        <p:txBody>
          <a:bodyPr/>
          <a:lstStyle/>
          <a:p>
            <a:endParaRPr lang="en-US"/>
          </a:p>
        </p:txBody>
      </p:sp>
      <p:sp>
        <p:nvSpPr>
          <p:cNvPr id="15" name="TextBox 14">
            <a:extLst>
              <a:ext uri="{FF2B5EF4-FFF2-40B4-BE49-F238E27FC236}">
                <a16:creationId xmlns:a16="http://schemas.microsoft.com/office/drawing/2014/main" id="{58154AB2-3026-29B9-0FA5-2244D6AE2EC5}"/>
              </a:ext>
            </a:extLst>
          </p:cNvPr>
          <p:cNvSpPr txBox="1"/>
          <p:nvPr/>
        </p:nvSpPr>
        <p:spPr>
          <a:xfrm>
            <a:off x="1873705" y="5665083"/>
            <a:ext cx="2322190" cy="369332"/>
          </a:xfrm>
          <a:prstGeom prst="rect">
            <a:avLst/>
          </a:prstGeom>
          <a:noFill/>
        </p:spPr>
        <p:txBody>
          <a:bodyPr wrap="square" rtlCol="0">
            <a:spAutoFit/>
          </a:bodyPr>
          <a:lstStyle/>
          <a:p>
            <a:r>
              <a:rPr lang="en-US" sz="900">
                <a:hlinkClick r:id="rId2" tooltip="https://scienceofparkinsons.com/2020/12/15/prevail-lilly/"/>
              </a:rPr>
              <a:t>This Photo</a:t>
            </a:r>
            <a:r>
              <a:rPr lang="en-US" sz="900"/>
              <a:t> by Unknown Author is licensed under </a:t>
            </a:r>
            <a:r>
              <a:rPr lang="en-US" sz="900">
                <a:hlinkClick r:id="rId3" tooltip="https://creativecommons.org/licenses/by/3.0/"/>
              </a:rPr>
              <a:t>CC BY</a:t>
            </a:r>
            <a:endParaRPr lang="en-US" sz="900"/>
          </a:p>
        </p:txBody>
      </p:sp>
      <p:pic>
        <p:nvPicPr>
          <p:cNvPr id="17" name="Picture 16">
            <a:extLst>
              <a:ext uri="{FF2B5EF4-FFF2-40B4-BE49-F238E27FC236}">
                <a16:creationId xmlns:a16="http://schemas.microsoft.com/office/drawing/2014/main" id="{BD784D92-9DDA-3E8F-F5C3-EF0196A0DA5D}"/>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609483" y="3084788"/>
            <a:ext cx="3585529" cy="2940794"/>
          </a:xfrm>
          <a:prstGeom prst="rect">
            <a:avLst/>
          </a:prstGeom>
        </p:spPr>
      </p:pic>
      <p:pic>
        <p:nvPicPr>
          <p:cNvPr id="19" name="Picture 18">
            <a:extLst>
              <a:ext uri="{FF2B5EF4-FFF2-40B4-BE49-F238E27FC236}">
                <a16:creationId xmlns:a16="http://schemas.microsoft.com/office/drawing/2014/main" id="{A023BD51-3F74-AF4F-AE61-DA0B29562B6F}"/>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2"/>
              </a:ext>
            </a:extLst>
          </a:blip>
          <a:stretch>
            <a:fillRect/>
          </a:stretch>
        </p:blipFill>
        <p:spPr>
          <a:xfrm>
            <a:off x="707513" y="737600"/>
            <a:ext cx="3447272" cy="2298405"/>
          </a:xfrm>
          <a:prstGeom prst="rect">
            <a:avLst/>
          </a:prstGeom>
        </p:spPr>
      </p:pic>
      <p:sp>
        <p:nvSpPr>
          <p:cNvPr id="20" name="TextBox 19">
            <a:extLst>
              <a:ext uri="{FF2B5EF4-FFF2-40B4-BE49-F238E27FC236}">
                <a16:creationId xmlns:a16="http://schemas.microsoft.com/office/drawing/2014/main" id="{EA0C2FFB-1DB3-F036-D969-049D0F73919C}"/>
              </a:ext>
            </a:extLst>
          </p:cNvPr>
          <p:cNvSpPr txBox="1"/>
          <p:nvPr/>
        </p:nvSpPr>
        <p:spPr>
          <a:xfrm>
            <a:off x="2173705" y="5965083"/>
            <a:ext cx="2322190" cy="369332"/>
          </a:xfrm>
          <a:prstGeom prst="rect">
            <a:avLst/>
          </a:prstGeom>
          <a:noFill/>
        </p:spPr>
        <p:txBody>
          <a:bodyPr wrap="square" rtlCol="0">
            <a:spAutoFit/>
          </a:bodyPr>
          <a:lstStyle/>
          <a:p>
            <a:r>
              <a:rPr lang="en-US" sz="900">
                <a:hlinkClick r:id="rId2" tooltip="https://scienceofparkinsons.com/2020/12/15/prevail-lilly/"/>
              </a:rPr>
              <a:t>This Photo</a:t>
            </a:r>
            <a:r>
              <a:rPr lang="en-US" sz="900"/>
              <a:t> by Unknown Author is licensed under </a:t>
            </a:r>
            <a:r>
              <a:rPr lang="en-US" sz="900">
                <a:hlinkClick r:id="rId3" tooltip="https://creativecommons.org/licenses/by/3.0/"/>
              </a:rPr>
              <a:t>CC BY</a:t>
            </a:r>
            <a:endParaRPr lang="en-US" sz="900"/>
          </a:p>
        </p:txBody>
      </p:sp>
    </p:spTree>
    <p:extLst>
      <p:ext uri="{BB962C8B-B14F-4D97-AF65-F5344CB8AC3E}">
        <p14:creationId xmlns:p14="http://schemas.microsoft.com/office/powerpoint/2010/main" val="3508041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F09B63BD-CE81-B00E-0FF7-D8BF71B79773}"/>
              </a:ext>
            </a:extLst>
          </p:cNvPr>
          <p:cNvSpPr txBox="1"/>
          <p:nvPr/>
        </p:nvSpPr>
        <p:spPr>
          <a:xfrm>
            <a:off x="673767" y="2104254"/>
            <a:ext cx="9577137" cy="2031325"/>
          </a:xfrm>
          <a:prstGeom prst="rect">
            <a:avLst/>
          </a:prstGeom>
          <a:noFill/>
        </p:spPr>
        <p:txBody>
          <a:bodyPr wrap="square">
            <a:spAutoFit/>
          </a:bodyPr>
          <a:lstStyle/>
          <a:p>
            <a:r>
              <a:rPr lang="en-US" dirty="0"/>
              <a:t>Year      Revenue ($B)   Bar Representation</a:t>
            </a:r>
          </a:p>
          <a:p>
            <a:r>
              <a:rPr lang="en-US" dirty="0"/>
              <a:t>2021      18.0                ██████████████████████████████████████████</a:t>
            </a:r>
          </a:p>
          <a:p>
            <a:r>
              <a:rPr lang="en-US" dirty="0"/>
              <a:t>2022      10.0                ████████████████████████</a:t>
            </a:r>
          </a:p>
          <a:p>
            <a:r>
              <a:rPr lang="en-US" dirty="0"/>
              <a:t>2023      6–7                 ███████████████</a:t>
            </a:r>
          </a:p>
          <a:p>
            <a:r>
              <a:rPr lang="en-US" dirty="0"/>
              <a:t>2024      3.2                  ████████</a:t>
            </a:r>
          </a:p>
          <a:p>
            <a:r>
              <a:rPr lang="en-US" dirty="0"/>
              <a:t>2025      1.9                  ████</a:t>
            </a:r>
          </a:p>
          <a:p>
            <a:r>
              <a:rPr lang="en-US" dirty="0"/>
              <a:t>2026 est. ~2.1             █████</a:t>
            </a:r>
          </a:p>
        </p:txBody>
      </p:sp>
      <p:sp>
        <p:nvSpPr>
          <p:cNvPr id="2" name="Title 1">
            <a:extLst>
              <a:ext uri="{FF2B5EF4-FFF2-40B4-BE49-F238E27FC236}">
                <a16:creationId xmlns:a16="http://schemas.microsoft.com/office/drawing/2014/main" id="{1ECC5376-183C-708A-403F-1B5B414E1EEA}"/>
              </a:ext>
            </a:extLst>
          </p:cNvPr>
          <p:cNvSpPr>
            <a:spLocks noGrp="1"/>
          </p:cNvSpPr>
          <p:nvPr>
            <p:ph type="title"/>
          </p:nvPr>
        </p:nvSpPr>
        <p:spPr/>
        <p:txBody>
          <a:bodyPr/>
          <a:lstStyle/>
          <a:p>
            <a:r>
              <a:rPr lang="en-US" dirty="0"/>
              <a:t>Recent revenue of moderna</a:t>
            </a:r>
          </a:p>
        </p:txBody>
      </p:sp>
    </p:spTree>
    <p:extLst>
      <p:ext uri="{BB962C8B-B14F-4D97-AF65-F5344CB8AC3E}">
        <p14:creationId xmlns:p14="http://schemas.microsoft.com/office/powerpoint/2010/main" val="1224816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0054A-53AD-EE61-71DA-90729099E346}"/>
              </a:ext>
            </a:extLst>
          </p:cNvPr>
          <p:cNvSpPr>
            <a:spLocks noGrp="1"/>
          </p:cNvSpPr>
          <p:nvPr>
            <p:ph type="title"/>
          </p:nvPr>
        </p:nvSpPr>
        <p:spPr/>
        <p:txBody>
          <a:bodyPr/>
          <a:lstStyle/>
          <a:p>
            <a:r>
              <a:rPr lang="en-US" dirty="0"/>
              <a:t>Market impact </a:t>
            </a:r>
          </a:p>
        </p:txBody>
      </p:sp>
      <p:sp>
        <p:nvSpPr>
          <p:cNvPr id="3" name="Text Placeholder 2">
            <a:extLst>
              <a:ext uri="{FF2B5EF4-FFF2-40B4-BE49-F238E27FC236}">
                <a16:creationId xmlns:a16="http://schemas.microsoft.com/office/drawing/2014/main" id="{D83D6E44-CB97-902F-15C7-CD644326EC14}"/>
              </a:ext>
            </a:extLst>
          </p:cNvPr>
          <p:cNvSpPr>
            <a:spLocks noGrp="1"/>
          </p:cNvSpPr>
          <p:nvPr>
            <p:ph type="body" idx="1"/>
          </p:nvPr>
        </p:nvSpPr>
        <p:spPr/>
        <p:txBody>
          <a:bodyPr/>
          <a:lstStyle/>
          <a:p>
            <a:r>
              <a:rPr lang="en-US" dirty="0"/>
              <a:t>Global market impact </a:t>
            </a:r>
          </a:p>
        </p:txBody>
      </p:sp>
      <p:sp>
        <p:nvSpPr>
          <p:cNvPr id="4" name="Content Placeholder 3">
            <a:extLst>
              <a:ext uri="{FF2B5EF4-FFF2-40B4-BE49-F238E27FC236}">
                <a16:creationId xmlns:a16="http://schemas.microsoft.com/office/drawing/2014/main" id="{7EF53C01-8E63-2CBE-B9BB-DB2F97C7E846}"/>
              </a:ext>
            </a:extLst>
          </p:cNvPr>
          <p:cNvSpPr>
            <a:spLocks noGrp="1"/>
          </p:cNvSpPr>
          <p:nvPr>
            <p:ph sz="half" idx="2"/>
          </p:nvPr>
        </p:nvSpPr>
        <p:spPr/>
        <p:txBody>
          <a:bodyPr>
            <a:normAutofit fontScale="85000" lnSpcReduction="20000"/>
          </a:bodyPr>
          <a:lstStyle/>
          <a:p>
            <a:pPr>
              <a:buFont typeface="Arial" panose="020B0604020202020204" pitchFamily="34" charset="0"/>
              <a:buChar char="•"/>
            </a:pPr>
            <a:r>
              <a:rPr lang="en-US" b="1" u="sng" dirty="0"/>
              <a:t>COVID-19 vaccine dominance</a:t>
            </a:r>
            <a:r>
              <a:rPr lang="en-US" dirty="0"/>
              <a:t>: Moderna’s Spikevax was one of the first widely distributed mRNA vaccines, generating </a:t>
            </a:r>
            <a:r>
              <a:rPr lang="en-US" b="1" dirty="0"/>
              <a:t>$19.26 billion in 2022 revenue</a:t>
            </a:r>
            <a:r>
              <a:rPr lang="en-US" dirty="0"/>
              <a:t> and proving the viability of mRNA platforms.</a:t>
            </a:r>
          </a:p>
          <a:p>
            <a:pPr>
              <a:buFont typeface="Arial" panose="020B0604020202020204" pitchFamily="34" charset="0"/>
              <a:buChar char="•"/>
            </a:pPr>
            <a:r>
              <a:rPr lang="en-US" b="1" u="sng" dirty="0"/>
              <a:t>Acceleration of biotech investment</a:t>
            </a:r>
            <a:r>
              <a:rPr lang="en-US" dirty="0"/>
              <a:t>: Its success triggered massive venture capital and government funding into mRNA startups and biotech innovation.</a:t>
            </a:r>
          </a:p>
          <a:p>
            <a:pPr>
              <a:buFont typeface="Arial" panose="020B0604020202020204" pitchFamily="34" charset="0"/>
              <a:buChar char="•"/>
            </a:pPr>
            <a:r>
              <a:rPr lang="en-US" b="1" u="sng" dirty="0"/>
              <a:t>Shift in vaccine development</a:t>
            </a:r>
            <a:r>
              <a:rPr lang="en-US" dirty="0"/>
              <a:t>: Traditional vaccine timelines (10–15 years) were compressed to under 1 year, setting new industry standards.</a:t>
            </a:r>
          </a:p>
          <a:p>
            <a:endParaRPr lang="en-US" dirty="0"/>
          </a:p>
        </p:txBody>
      </p:sp>
      <p:sp>
        <p:nvSpPr>
          <p:cNvPr id="5" name="Text Placeholder 4">
            <a:extLst>
              <a:ext uri="{FF2B5EF4-FFF2-40B4-BE49-F238E27FC236}">
                <a16:creationId xmlns:a16="http://schemas.microsoft.com/office/drawing/2014/main" id="{ADD478ED-5C30-DD9F-3283-D04F1312B8EF}"/>
              </a:ext>
            </a:extLst>
          </p:cNvPr>
          <p:cNvSpPr>
            <a:spLocks noGrp="1"/>
          </p:cNvSpPr>
          <p:nvPr>
            <p:ph type="body" sz="quarter" idx="3"/>
          </p:nvPr>
        </p:nvSpPr>
        <p:spPr/>
        <p:txBody>
          <a:bodyPr/>
          <a:lstStyle/>
          <a:p>
            <a:r>
              <a:rPr lang="en-US" dirty="0"/>
              <a:t>Scientific and healthcare impact </a:t>
            </a:r>
          </a:p>
        </p:txBody>
      </p:sp>
      <p:sp>
        <p:nvSpPr>
          <p:cNvPr id="6" name="Content Placeholder 5">
            <a:extLst>
              <a:ext uri="{FF2B5EF4-FFF2-40B4-BE49-F238E27FC236}">
                <a16:creationId xmlns:a16="http://schemas.microsoft.com/office/drawing/2014/main" id="{B5A1104B-927B-351A-CFA8-7512C1CA28CE}"/>
              </a:ext>
            </a:extLst>
          </p:cNvPr>
          <p:cNvSpPr>
            <a:spLocks noGrp="1"/>
          </p:cNvSpPr>
          <p:nvPr>
            <p:ph sz="quarter" idx="4"/>
          </p:nvPr>
        </p:nvSpPr>
        <p:spPr/>
        <p:txBody>
          <a:bodyPr>
            <a:normAutofit fontScale="85000" lnSpcReduction="20000"/>
          </a:bodyPr>
          <a:lstStyle/>
          <a:p>
            <a:pPr>
              <a:buFont typeface="Arial" panose="020B0604020202020204" pitchFamily="34" charset="0"/>
              <a:buChar char="•"/>
            </a:pPr>
            <a:r>
              <a:rPr lang="en-US" b="1" u="sng" dirty="0"/>
              <a:t>Proof of mRNA viability</a:t>
            </a:r>
            <a:r>
              <a:rPr lang="en-US" dirty="0"/>
              <a:t>: Moderna validated mRNA as a platform for vaccines and therapeutics, opening doors for oncology, rare diseases, and personalized medicine.</a:t>
            </a:r>
          </a:p>
          <a:p>
            <a:pPr>
              <a:buFont typeface="Arial" panose="020B0604020202020204" pitchFamily="34" charset="0"/>
              <a:buChar char="•"/>
            </a:pPr>
            <a:r>
              <a:rPr lang="en-US" b="1" u="sng" dirty="0"/>
              <a:t>Pipeline expansion</a:t>
            </a:r>
            <a:r>
              <a:rPr lang="en-US" dirty="0"/>
              <a:t>: Beyond COVID, Moderna is advancing vaccines for </a:t>
            </a:r>
            <a:r>
              <a:rPr lang="en-US" b="1" dirty="0"/>
              <a:t>flu, RSV, HIV, mpox, and Zika</a:t>
            </a:r>
            <a:r>
              <a:rPr lang="en-US" dirty="0"/>
              <a:t>, plus oncology treatments.</a:t>
            </a:r>
          </a:p>
          <a:p>
            <a:pPr>
              <a:buFont typeface="Arial" panose="020B0604020202020204" pitchFamily="34" charset="0"/>
              <a:buChar char="•"/>
            </a:pPr>
            <a:r>
              <a:rPr lang="en-US" b="1" u="sng" dirty="0"/>
              <a:t>Regulatory precedent</a:t>
            </a:r>
            <a:r>
              <a:rPr lang="en-US" dirty="0"/>
              <a:t>: Agencies like the FDA and EMA adapted faster review processes for mRNA-based therapies.</a:t>
            </a:r>
          </a:p>
          <a:p>
            <a:endParaRPr lang="en-US" dirty="0"/>
          </a:p>
        </p:txBody>
      </p:sp>
    </p:spTree>
    <p:extLst>
      <p:ext uri="{BB962C8B-B14F-4D97-AF65-F5344CB8AC3E}">
        <p14:creationId xmlns:p14="http://schemas.microsoft.com/office/powerpoint/2010/main" val="4183207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61F156-3F5F-7E63-3A2C-EB4832F48EF6}"/>
              </a:ext>
            </a:extLst>
          </p:cNvPr>
          <p:cNvSpPr>
            <a:spLocks noGrp="1"/>
          </p:cNvSpPr>
          <p:nvPr>
            <p:ph type="title"/>
          </p:nvPr>
        </p:nvSpPr>
        <p:spPr/>
        <p:txBody>
          <a:bodyPr/>
          <a:lstStyle/>
          <a:p>
            <a:r>
              <a:rPr lang="en-US" dirty="0"/>
              <a:t>Exceptional data points</a:t>
            </a:r>
          </a:p>
        </p:txBody>
      </p:sp>
      <p:graphicFrame>
        <p:nvGraphicFramePr>
          <p:cNvPr id="8" name="Table 7">
            <a:extLst>
              <a:ext uri="{FF2B5EF4-FFF2-40B4-BE49-F238E27FC236}">
                <a16:creationId xmlns:a16="http://schemas.microsoft.com/office/drawing/2014/main" id="{9FD7DA0B-87FD-B7E6-CB02-48BE35318D59}"/>
              </a:ext>
            </a:extLst>
          </p:cNvPr>
          <p:cNvGraphicFramePr>
            <a:graphicFrameLocks noGrp="1"/>
          </p:cNvGraphicFramePr>
          <p:nvPr>
            <p:extLst>
              <p:ext uri="{D42A27DB-BD31-4B8C-83A1-F6EECF244321}">
                <p14:modId xmlns:p14="http://schemas.microsoft.com/office/powerpoint/2010/main" val="3126992885"/>
              </p:ext>
            </p:extLst>
          </p:nvPr>
        </p:nvGraphicFramePr>
        <p:xfrm>
          <a:off x="1096963" y="2616994"/>
          <a:ext cx="10058400" cy="2743200"/>
        </p:xfrm>
        <a:graphic>
          <a:graphicData uri="http://schemas.openxmlformats.org/drawingml/2006/table">
            <a:tbl>
              <a:tblPr>
                <a:tableStyleId>{616DA210-FB5B-4158-B5E0-FEB733F419BA}</a:tableStyleId>
              </a:tblPr>
              <a:tblGrid>
                <a:gridCol w="3352800">
                  <a:extLst>
                    <a:ext uri="{9D8B030D-6E8A-4147-A177-3AD203B41FA5}">
                      <a16:colId xmlns:a16="http://schemas.microsoft.com/office/drawing/2014/main" val="2081669976"/>
                    </a:ext>
                  </a:extLst>
                </a:gridCol>
                <a:gridCol w="3352800">
                  <a:extLst>
                    <a:ext uri="{9D8B030D-6E8A-4147-A177-3AD203B41FA5}">
                      <a16:colId xmlns:a16="http://schemas.microsoft.com/office/drawing/2014/main" val="4150945122"/>
                    </a:ext>
                  </a:extLst>
                </a:gridCol>
                <a:gridCol w="3352800">
                  <a:extLst>
                    <a:ext uri="{9D8B030D-6E8A-4147-A177-3AD203B41FA5}">
                      <a16:colId xmlns:a16="http://schemas.microsoft.com/office/drawing/2014/main" val="1425405385"/>
                    </a:ext>
                  </a:extLst>
                </a:gridCol>
              </a:tblGrid>
              <a:tr h="0">
                <a:tc>
                  <a:txBody>
                    <a:bodyPr/>
                    <a:lstStyle/>
                    <a:p>
                      <a:pPr>
                        <a:buNone/>
                      </a:pPr>
                      <a:r>
                        <a:rPr lang="en-US" b="1" dirty="0">
                          <a:highlight>
                            <a:srgbClr val="C0C0C0"/>
                          </a:highlight>
                        </a:rPr>
                        <a:t>Impact Area</a:t>
                      </a:r>
                      <a:endParaRPr lang="en-US" dirty="0">
                        <a:highlight>
                          <a:srgbClr val="C0C0C0"/>
                        </a:highlight>
                      </a:endParaRPr>
                    </a:p>
                  </a:txBody>
                  <a:tcPr anchor="ctr"/>
                </a:tc>
                <a:tc>
                  <a:txBody>
                    <a:bodyPr/>
                    <a:lstStyle/>
                    <a:p>
                      <a:pPr>
                        <a:buNone/>
                      </a:pPr>
                      <a:r>
                        <a:rPr lang="en-US" b="1" dirty="0">
                          <a:highlight>
                            <a:srgbClr val="C0C0C0"/>
                          </a:highlight>
                        </a:rPr>
                        <a:t>Exceptional Data</a:t>
                      </a:r>
                      <a:endParaRPr lang="en-US" dirty="0">
                        <a:highlight>
                          <a:srgbClr val="C0C0C0"/>
                        </a:highlight>
                      </a:endParaRPr>
                    </a:p>
                  </a:txBody>
                  <a:tcPr anchor="ctr"/>
                </a:tc>
                <a:tc>
                  <a:txBody>
                    <a:bodyPr/>
                    <a:lstStyle/>
                    <a:p>
                      <a:pPr>
                        <a:buNone/>
                      </a:pPr>
                      <a:r>
                        <a:rPr lang="en-US" b="1" dirty="0">
                          <a:highlight>
                            <a:srgbClr val="C0C0C0"/>
                          </a:highlight>
                        </a:rPr>
                        <a:t>Significance</a:t>
                      </a:r>
                      <a:endParaRPr lang="en-US" dirty="0">
                        <a:highlight>
                          <a:srgbClr val="C0C0C0"/>
                        </a:highlight>
                      </a:endParaRPr>
                    </a:p>
                  </a:txBody>
                  <a:tcPr anchor="ctr"/>
                </a:tc>
                <a:extLst>
                  <a:ext uri="{0D108BD9-81ED-4DB2-BD59-A6C34878D82A}">
                    <a16:rowId xmlns:a16="http://schemas.microsoft.com/office/drawing/2014/main" val="3204832782"/>
                  </a:ext>
                </a:extLst>
              </a:tr>
              <a:tr h="0">
                <a:tc>
                  <a:txBody>
                    <a:bodyPr/>
                    <a:lstStyle/>
                    <a:p>
                      <a:pPr>
                        <a:buNone/>
                      </a:pPr>
                      <a:r>
                        <a:rPr lang="en-US" dirty="0"/>
                        <a:t>Revenue peak</a:t>
                      </a:r>
                    </a:p>
                  </a:txBody>
                  <a:tcPr anchor="ctr"/>
                </a:tc>
                <a:tc>
                  <a:txBody>
                    <a:bodyPr/>
                    <a:lstStyle/>
                    <a:p>
                      <a:pPr>
                        <a:buNone/>
                      </a:pPr>
                      <a:r>
                        <a:rPr lang="en-US"/>
                        <a:t>$19.26B in 2022</a:t>
                      </a:r>
                    </a:p>
                  </a:txBody>
                  <a:tcPr anchor="ctr"/>
                </a:tc>
                <a:tc>
                  <a:txBody>
                    <a:bodyPr/>
                    <a:lstStyle/>
                    <a:p>
                      <a:pPr>
                        <a:buNone/>
                      </a:pPr>
                      <a:r>
                        <a:rPr lang="en-US"/>
                        <a:t>One of the highest ever for a biotech</a:t>
                      </a:r>
                    </a:p>
                  </a:txBody>
                  <a:tcPr anchor="ctr"/>
                </a:tc>
                <a:extLst>
                  <a:ext uri="{0D108BD9-81ED-4DB2-BD59-A6C34878D82A}">
                    <a16:rowId xmlns:a16="http://schemas.microsoft.com/office/drawing/2014/main" val="2478792581"/>
                  </a:ext>
                </a:extLst>
              </a:tr>
              <a:tr h="0">
                <a:tc>
                  <a:txBody>
                    <a:bodyPr/>
                    <a:lstStyle/>
                    <a:p>
                      <a:pPr>
                        <a:buNone/>
                      </a:pPr>
                      <a:r>
                        <a:rPr lang="en-US"/>
                        <a:t>Stock growth</a:t>
                      </a:r>
                    </a:p>
                  </a:txBody>
                  <a:tcPr anchor="ctr"/>
                </a:tc>
                <a:tc>
                  <a:txBody>
                    <a:bodyPr/>
                    <a:lstStyle/>
                    <a:p>
                      <a:pPr>
                        <a:buNone/>
                      </a:pPr>
                      <a:r>
                        <a:rPr lang="en-US"/>
                        <a:t>+700% (2020–2021)</a:t>
                      </a:r>
                    </a:p>
                  </a:txBody>
                  <a:tcPr anchor="ctr"/>
                </a:tc>
                <a:tc>
                  <a:txBody>
                    <a:bodyPr/>
                    <a:lstStyle/>
                    <a:p>
                      <a:pPr>
                        <a:buNone/>
                      </a:pPr>
                      <a:r>
                        <a:rPr lang="en-US"/>
                        <a:t>Historic surge in biotech valuation</a:t>
                      </a:r>
                    </a:p>
                  </a:txBody>
                  <a:tcPr anchor="ctr"/>
                </a:tc>
                <a:extLst>
                  <a:ext uri="{0D108BD9-81ED-4DB2-BD59-A6C34878D82A}">
                    <a16:rowId xmlns:a16="http://schemas.microsoft.com/office/drawing/2014/main" val="325207888"/>
                  </a:ext>
                </a:extLst>
              </a:tr>
              <a:tr h="0">
                <a:tc>
                  <a:txBody>
                    <a:bodyPr/>
                    <a:lstStyle/>
                    <a:p>
                      <a:pPr>
                        <a:buNone/>
                      </a:pPr>
                      <a:r>
                        <a:rPr lang="en-US"/>
                        <a:t>Global reach</a:t>
                      </a:r>
                    </a:p>
                  </a:txBody>
                  <a:tcPr anchor="ctr"/>
                </a:tc>
                <a:tc>
                  <a:txBody>
                    <a:bodyPr/>
                    <a:lstStyle/>
                    <a:p>
                      <a:pPr>
                        <a:buNone/>
                      </a:pPr>
                      <a:r>
                        <a:rPr lang="en-US"/>
                        <a:t>70+ countries</a:t>
                      </a:r>
                    </a:p>
                  </a:txBody>
                  <a:tcPr anchor="ctr"/>
                </a:tc>
                <a:tc>
                  <a:txBody>
                    <a:bodyPr/>
                    <a:lstStyle/>
                    <a:p>
                      <a:pPr>
                        <a:buNone/>
                      </a:pPr>
                      <a:r>
                        <a:rPr lang="en-US"/>
                        <a:t>Rapid worldwide distribution</a:t>
                      </a:r>
                    </a:p>
                  </a:txBody>
                  <a:tcPr anchor="ctr"/>
                </a:tc>
                <a:extLst>
                  <a:ext uri="{0D108BD9-81ED-4DB2-BD59-A6C34878D82A}">
                    <a16:rowId xmlns:a16="http://schemas.microsoft.com/office/drawing/2014/main" val="3824509988"/>
                  </a:ext>
                </a:extLst>
              </a:tr>
              <a:tr h="0">
                <a:tc>
                  <a:txBody>
                    <a:bodyPr/>
                    <a:lstStyle/>
                    <a:p>
                      <a:pPr>
                        <a:buNone/>
                      </a:pPr>
                      <a:r>
                        <a:rPr lang="en-US"/>
                        <a:t>R&amp;D pipeline</a:t>
                      </a:r>
                    </a:p>
                  </a:txBody>
                  <a:tcPr anchor="ctr"/>
                </a:tc>
                <a:tc>
                  <a:txBody>
                    <a:bodyPr/>
                    <a:lstStyle/>
                    <a:p>
                      <a:pPr>
                        <a:buNone/>
                      </a:pPr>
                      <a:r>
                        <a:rPr lang="en-US"/>
                        <a:t>45+ programs</a:t>
                      </a:r>
                    </a:p>
                  </a:txBody>
                  <a:tcPr anchor="ctr"/>
                </a:tc>
                <a:tc>
                  <a:txBody>
                    <a:bodyPr/>
                    <a:lstStyle/>
                    <a:p>
                      <a:pPr>
                        <a:buNone/>
                      </a:pPr>
                      <a:r>
                        <a:rPr lang="en-US"/>
                        <a:t>Diversification beyond COVID</a:t>
                      </a:r>
                    </a:p>
                  </a:txBody>
                  <a:tcPr anchor="ctr"/>
                </a:tc>
                <a:extLst>
                  <a:ext uri="{0D108BD9-81ED-4DB2-BD59-A6C34878D82A}">
                    <a16:rowId xmlns:a16="http://schemas.microsoft.com/office/drawing/2014/main" val="3965954556"/>
                  </a:ext>
                </a:extLst>
              </a:tr>
              <a:tr h="0">
                <a:tc>
                  <a:txBody>
                    <a:bodyPr/>
                    <a:lstStyle/>
                    <a:p>
                      <a:pPr>
                        <a:buNone/>
                      </a:pPr>
                      <a:r>
                        <a:rPr lang="en-US"/>
                        <a:t>Litigation impact</a:t>
                      </a:r>
                    </a:p>
                  </a:txBody>
                  <a:tcPr anchor="ctr"/>
                </a:tc>
                <a:tc>
                  <a:txBody>
                    <a:bodyPr/>
                    <a:lstStyle/>
                    <a:p>
                      <a:pPr>
                        <a:buNone/>
                      </a:pPr>
                      <a:r>
                        <a:rPr lang="en-US"/>
                        <a:t>$0.9B settlement in 2026</a:t>
                      </a:r>
                    </a:p>
                  </a:txBody>
                  <a:tcPr anchor="ctr"/>
                </a:tc>
                <a:tc>
                  <a:txBody>
                    <a:bodyPr/>
                    <a:lstStyle/>
                    <a:p>
                      <a:pPr>
                        <a:buNone/>
                      </a:pPr>
                      <a:r>
                        <a:rPr lang="en-US" dirty="0"/>
                        <a:t>Shows risks of IP disputes</a:t>
                      </a:r>
                    </a:p>
                  </a:txBody>
                  <a:tcPr anchor="ctr"/>
                </a:tc>
                <a:extLst>
                  <a:ext uri="{0D108BD9-81ED-4DB2-BD59-A6C34878D82A}">
                    <a16:rowId xmlns:a16="http://schemas.microsoft.com/office/drawing/2014/main" val="3131149745"/>
                  </a:ext>
                </a:extLst>
              </a:tr>
            </a:tbl>
          </a:graphicData>
        </a:graphic>
      </p:graphicFrame>
    </p:spTree>
    <p:extLst>
      <p:ext uri="{BB962C8B-B14F-4D97-AF65-F5344CB8AC3E}">
        <p14:creationId xmlns:p14="http://schemas.microsoft.com/office/powerpoint/2010/main" val="3629249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6881B8-DFFA-6D83-3C4B-6B02CB1FEB68}"/>
              </a:ext>
            </a:extLst>
          </p:cNvPr>
          <p:cNvSpPr>
            <a:spLocks noGrp="1"/>
          </p:cNvSpPr>
          <p:nvPr>
            <p:ph type="title"/>
          </p:nvPr>
        </p:nvSpPr>
        <p:spPr/>
        <p:txBody>
          <a:bodyPr/>
          <a:lstStyle/>
          <a:p>
            <a:r>
              <a:rPr lang="en-US" dirty="0"/>
              <a:t>Conclusion </a:t>
            </a:r>
          </a:p>
        </p:txBody>
      </p:sp>
      <p:sp>
        <p:nvSpPr>
          <p:cNvPr id="6" name="TextBox 5">
            <a:extLst>
              <a:ext uri="{FF2B5EF4-FFF2-40B4-BE49-F238E27FC236}">
                <a16:creationId xmlns:a16="http://schemas.microsoft.com/office/drawing/2014/main" id="{A687D476-F9B5-0AFC-1516-DC52CE6F77B8}"/>
              </a:ext>
            </a:extLst>
          </p:cNvPr>
          <p:cNvSpPr txBox="1"/>
          <p:nvPr/>
        </p:nvSpPr>
        <p:spPr>
          <a:xfrm>
            <a:off x="1155032" y="2183920"/>
            <a:ext cx="6096000" cy="3693319"/>
          </a:xfrm>
          <a:prstGeom prst="rect">
            <a:avLst/>
          </a:prstGeom>
          <a:noFill/>
        </p:spPr>
        <p:txBody>
          <a:bodyPr wrap="square">
            <a:spAutoFit/>
          </a:bodyPr>
          <a:lstStyle/>
          <a:p>
            <a:pPr>
              <a:buNone/>
            </a:pPr>
            <a:r>
              <a:rPr lang="en-US" dirty="0">
                <a:effectLst/>
              </a:rPr>
              <a:t>Moderna has proven itself as a </a:t>
            </a:r>
            <a:r>
              <a:rPr lang="en-US" b="1" dirty="0">
                <a:effectLst/>
              </a:rPr>
              <a:t>pioneer in mRNA technology</a:t>
            </a:r>
            <a:r>
              <a:rPr lang="en-US" dirty="0">
                <a:effectLst/>
              </a:rPr>
              <a:t>, reshaping the future of medicine with its breakthrough COVID-19 vaccine and expanding pipeline. While the company faces challenges such as </a:t>
            </a:r>
            <a:r>
              <a:rPr lang="en-US" b="1" dirty="0">
                <a:effectLst/>
              </a:rPr>
              <a:t>declining revenues</a:t>
            </a:r>
            <a:r>
              <a:rPr lang="en-US" dirty="0">
                <a:effectLst/>
              </a:rPr>
              <a:t>, </a:t>
            </a:r>
            <a:r>
              <a:rPr lang="en-US" b="1" dirty="0">
                <a:effectLst/>
              </a:rPr>
              <a:t>regulatory hurdles</a:t>
            </a:r>
            <a:r>
              <a:rPr lang="en-US" dirty="0">
                <a:effectLst/>
              </a:rPr>
              <a:t>, and </a:t>
            </a:r>
            <a:r>
              <a:rPr lang="en-US" b="1" dirty="0">
                <a:effectLst/>
              </a:rPr>
              <a:t>global access issues</a:t>
            </a:r>
            <a:r>
              <a:rPr lang="en-US" dirty="0">
                <a:effectLst/>
              </a:rPr>
              <a:t>, its commitment to innovation remains clear.</a:t>
            </a:r>
            <a:endParaRPr lang="en-US" dirty="0"/>
          </a:p>
          <a:p>
            <a:pPr>
              <a:buNone/>
            </a:pPr>
            <a:r>
              <a:rPr lang="en-US" dirty="0">
                <a:effectLst/>
              </a:rPr>
              <a:t>With ongoing work in </a:t>
            </a:r>
            <a:r>
              <a:rPr lang="en-US" b="1" dirty="0">
                <a:effectLst/>
              </a:rPr>
              <a:t>seasonal vaccines</a:t>
            </a:r>
            <a:r>
              <a:rPr lang="en-US" dirty="0">
                <a:effectLst/>
              </a:rPr>
              <a:t>, </a:t>
            </a:r>
            <a:r>
              <a:rPr lang="en-US" b="1" dirty="0">
                <a:effectLst/>
              </a:rPr>
              <a:t>oncology treatments</a:t>
            </a:r>
            <a:r>
              <a:rPr lang="en-US" dirty="0">
                <a:effectLst/>
              </a:rPr>
              <a:t>, and </a:t>
            </a:r>
            <a:r>
              <a:rPr lang="en-US" b="1" dirty="0">
                <a:effectLst/>
              </a:rPr>
              <a:t>rare diseases</a:t>
            </a:r>
            <a:r>
              <a:rPr lang="en-US" dirty="0">
                <a:effectLst/>
              </a:rPr>
              <a:t>, Moderna is transitioning from a pandemic-driven company to a diversified biotech leader.</a:t>
            </a:r>
            <a:endParaRPr lang="en-US" dirty="0"/>
          </a:p>
          <a:p>
            <a:pPr>
              <a:buNone/>
            </a:pPr>
            <a:r>
              <a:rPr lang="en-US" dirty="0">
                <a:effectLst/>
              </a:rPr>
              <a:t>Ultimately, Moderna’s journey highlights the </a:t>
            </a:r>
            <a:r>
              <a:rPr lang="en-US" b="1" dirty="0">
                <a:effectLst/>
              </a:rPr>
              <a:t>transformative power of science</a:t>
            </a:r>
            <a:r>
              <a:rPr lang="en-US" dirty="0">
                <a:effectLst/>
              </a:rPr>
              <a:t>, the importance of </a:t>
            </a:r>
            <a:r>
              <a:rPr lang="en-US" b="1" dirty="0">
                <a:effectLst/>
              </a:rPr>
              <a:t>global collaboration</a:t>
            </a:r>
            <a:r>
              <a:rPr lang="en-US" dirty="0">
                <a:effectLst/>
              </a:rPr>
              <a:t>, and the potential of mRNA to </a:t>
            </a:r>
            <a:r>
              <a:rPr lang="en-US" b="1" dirty="0">
                <a:effectLst/>
              </a:rPr>
              <a:t>redefine healthcare for generations to come</a:t>
            </a:r>
            <a:r>
              <a:rPr lang="en-US" dirty="0">
                <a:effectLst/>
              </a:rPr>
              <a:t>.</a:t>
            </a:r>
            <a:endParaRPr lang="en-US" dirty="0"/>
          </a:p>
        </p:txBody>
      </p:sp>
      <p:pic>
        <p:nvPicPr>
          <p:cNvPr id="11" name="Picture 10">
            <a:extLst>
              <a:ext uri="{FF2B5EF4-FFF2-40B4-BE49-F238E27FC236}">
                <a16:creationId xmlns:a16="http://schemas.microsoft.com/office/drawing/2014/main" id="{139CAFC1-0BC6-26F1-59F9-58884A0BEE5A}"/>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051532" y="2037348"/>
            <a:ext cx="3048000" cy="4045618"/>
          </a:xfrm>
          <a:prstGeom prst="rect">
            <a:avLst/>
          </a:prstGeom>
        </p:spPr>
      </p:pic>
    </p:spTree>
    <p:extLst>
      <p:ext uri="{BB962C8B-B14F-4D97-AF65-F5344CB8AC3E}">
        <p14:creationId xmlns:p14="http://schemas.microsoft.com/office/powerpoint/2010/main" val="2989253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6CE1D1E-584E-7B10-CD8F-F0E7D10724D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941096" y="850233"/>
            <a:ext cx="8109284" cy="3840830"/>
          </a:xfrm>
          <a:prstGeom prst="rect">
            <a:avLst/>
          </a:prstGeom>
        </p:spPr>
      </p:pic>
    </p:spTree>
    <p:extLst>
      <p:ext uri="{BB962C8B-B14F-4D97-AF65-F5344CB8AC3E}">
        <p14:creationId xmlns:p14="http://schemas.microsoft.com/office/powerpoint/2010/main" val="338355896"/>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3.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
  <TotalTime>182</TotalTime>
  <Words>1029</Words>
  <Application>Microsoft Office PowerPoint</Application>
  <PresentationFormat>Widescreen</PresentationFormat>
  <Paragraphs>114</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Bookman Old Style</vt:lpstr>
      <vt:lpstr>Calibri</vt:lpstr>
      <vt:lpstr>Franklin Gothic Book</vt:lpstr>
      <vt:lpstr>Roboto</vt:lpstr>
      <vt:lpstr>Wingdings</vt:lpstr>
      <vt:lpstr>Custom</vt:lpstr>
      <vt:lpstr>Moderna biotech startup company</vt:lpstr>
      <vt:lpstr>Introduction to Moderna Startup Country  In an era defined by innovation and entrepreneurial spirit, Moderna Startup Country emerges as a dynamic hub fostering creativity, technology, and scalable solutions. With a vision to empower startups and catalyze economic growth, it provides resources, mentorship, and a collaborative ecosystem, transforming ideas into impactful ventures. This initiative positions itself at the forefront of modern entrepreneurship, championing innovation as a driving force for societal and technological advancement. Moderna is a biotechnology company based in Cambridge, Massachusetts, founded in 2010. It specializes in mRNA technology, which uses messenger RNA to instruct cells to produce proteins that help prevent or treat diseases. The company’s mission is to revolutionize medicine by harnessing mRNA for vaccines and therapeutics across infectious diseases, oncology, rare diseases, and autoimmune conditions  </vt:lpstr>
      <vt:lpstr>Products by  moderna </vt:lpstr>
      <vt:lpstr>PowerPoint Presentation</vt:lpstr>
      <vt:lpstr>PowerPoint Presentation</vt:lpstr>
      <vt:lpstr>Challenges faced by moderna</vt:lpstr>
      <vt:lpstr>PowerPoint Presentation</vt:lpstr>
      <vt:lpstr>Recent revenue of moderna</vt:lpstr>
      <vt:lpstr>Market impact </vt:lpstr>
      <vt:lpstr>Exceptional data points</vt:lpstr>
      <vt:lpstr>Conclusion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8</cp:revision>
  <dcterms:created xsi:type="dcterms:W3CDTF">2026-06-26T14:31:57Z</dcterms:created>
  <dcterms:modified xsi:type="dcterms:W3CDTF">2026-06-27T14:56:06Z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